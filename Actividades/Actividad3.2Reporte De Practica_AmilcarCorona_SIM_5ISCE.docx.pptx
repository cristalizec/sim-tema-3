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79" r:id="rId3"/>
    <p:sldId id="262" r:id="rId4"/>
    <p:sldId id="287" r:id="rId5"/>
    <p:sldId id="288" r:id="rId6"/>
    <p:sldId id="289" r:id="rId7"/>
    <p:sldId id="290" r:id="rId8"/>
    <p:sldId id="291" r:id="rId9"/>
    <p:sldId id="292" r:id="rId10"/>
    <p:sldId id="263" r:id="rId11"/>
    <p:sldId id="280" r:id="rId12"/>
    <p:sldId id="282" r:id="rId13"/>
    <p:sldId id="281" r:id="rId14"/>
    <p:sldId id="283" r:id="rId15"/>
    <p:sldId id="285" r:id="rId16"/>
    <p:sldId id="284" r:id="rId17"/>
    <p:sldId id="286" r:id="rId18"/>
    <p:sldId id="293" r:id="rId19"/>
    <p:sldId id="294" r:id="rId20"/>
    <p:sldId id="295" r:id="rId21"/>
    <p:sldId id="296" r:id="rId22"/>
    <p:sldId id="300" r:id="rId23"/>
    <p:sldId id="301" r:id="rId24"/>
    <p:sldId id="302" r:id="rId25"/>
    <p:sldId id="3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lcar Corona" initials="AC" lastIdx="2" clrIdx="0">
    <p:extLst>
      <p:ext uri="{19B8F6BF-5375-455C-9EA6-DF929625EA0E}">
        <p15:presenceInfo xmlns:p15="http://schemas.microsoft.com/office/powerpoint/2012/main" userId="f6669480a8ebe83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95391C-5406-4369-AF0B-992B3B24C0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F3FA5E20-B4C1-41D2-BC45-31E3208856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C981E882-1E00-4FA2-A626-8E65D20D67CD}"/>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70F5E9F9-2942-4A61-96AF-3AFE316765D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F8FD024-2C1C-4F26-A21E-DD0E2FA126FD}"/>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111331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88857-95EF-4D96-B303-7440DFE94298}"/>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92CF169-5CD2-4ED5-BC5C-59F7825F4AD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ACC986AD-33A0-425B-A58A-EA4E6D195AA4}"/>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E369744E-D3D8-4522-8B20-F64D2045B4F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D7F7846-D684-488C-BA3F-D751DF6C7191}"/>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4138313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D8E287-52A3-4870-9F57-E6A5B59D014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DA19F0C-A299-40EE-AEB6-72C03346F9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40E843-BBF8-4472-BBD0-71D0AA83EB0C}"/>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6866CD69-26DD-468D-80B1-B11E93D7733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A28245D-517B-4D4E-8078-5999A54806BF}"/>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2667696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143726-3337-4133-8FBA-B2BD4F149BD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03548B5E-E80A-4333-AA2F-B8A78A0B37D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79051CE0-423A-4C7C-98E2-7C3A2A92E22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DF9AF026-1C1F-479B-986E-74A84D694B38}"/>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6" name="Marcador de pie de página 5">
            <a:extLst>
              <a:ext uri="{FF2B5EF4-FFF2-40B4-BE49-F238E27FC236}">
                <a16:creationId xmlns:a16="http://schemas.microsoft.com/office/drawing/2014/main" id="{A019B6EA-921B-46FB-97DF-994B7975B31D}"/>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CA05C683-DFDE-4DDC-B211-1C71F096465C}"/>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825371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37396A-75A0-4B84-B670-2E3E8E2839A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134CF6EE-DB57-4AFC-83DB-87845CC188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7F04423-5D74-4590-98B5-83557B28D6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343D63F0-770D-4836-9AE8-5A8CD30BC3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BC72E61-A2A4-4BDB-8DA1-E091E0EBCF5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3A1F6A6A-37E2-4E05-A0EC-983C7C3A64E2}"/>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8" name="Marcador de pie de página 7">
            <a:extLst>
              <a:ext uri="{FF2B5EF4-FFF2-40B4-BE49-F238E27FC236}">
                <a16:creationId xmlns:a16="http://schemas.microsoft.com/office/drawing/2014/main" id="{AFC4790D-55F3-4463-A1AC-A3CB939A3DDB}"/>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DD8AC0DC-C769-45CF-8734-79D0DCEF7582}"/>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1766349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780E6D-8BA2-4A3B-BDA5-3A02FF7177A2}"/>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5CC0D170-E73B-4F34-A2CA-E4C47F07E745}"/>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4" name="Marcador de pie de página 3">
            <a:extLst>
              <a:ext uri="{FF2B5EF4-FFF2-40B4-BE49-F238E27FC236}">
                <a16:creationId xmlns:a16="http://schemas.microsoft.com/office/drawing/2014/main" id="{80C41A67-007F-4DE7-8782-2C6A18D4E062}"/>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3FC7F309-51F6-4B4B-86CC-6D192ED5D766}"/>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49517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090DEE4-5099-489A-BE0C-19F4253FDDB7}"/>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3" name="Marcador de pie de página 2">
            <a:extLst>
              <a:ext uri="{FF2B5EF4-FFF2-40B4-BE49-F238E27FC236}">
                <a16:creationId xmlns:a16="http://schemas.microsoft.com/office/drawing/2014/main" id="{537D5003-D041-45D1-B667-F4B7D7B632A3}"/>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86086D62-99B8-4644-9160-45FD69AFDD8A}"/>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861925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BF59F5-EC52-4804-97A9-19A1233F25A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4DDD78D-FDA7-4C50-A62A-973D894148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623F79D6-AE1B-4405-8A16-5A148898D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3FADD6B-8387-46D1-B0C9-674E2BC22781}"/>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6" name="Marcador de pie de página 5">
            <a:extLst>
              <a:ext uri="{FF2B5EF4-FFF2-40B4-BE49-F238E27FC236}">
                <a16:creationId xmlns:a16="http://schemas.microsoft.com/office/drawing/2014/main" id="{C5A597B4-D476-4F74-8A14-9651F230A66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50A112E-4902-4F45-95FD-19D91EED191B}"/>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3054146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05BE2-8E94-488B-BF39-7677C253A18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271E3E0-C30E-44DF-B73F-ED3E666E6C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208B3D06-F95D-4DE9-8504-833E53E11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01DD0CB-1EF7-49F2-8D92-F3DF6E4F94C1}"/>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6" name="Marcador de pie de página 5">
            <a:extLst>
              <a:ext uri="{FF2B5EF4-FFF2-40B4-BE49-F238E27FC236}">
                <a16:creationId xmlns:a16="http://schemas.microsoft.com/office/drawing/2014/main" id="{FD5D3FCA-724A-4EA2-AB8D-C7AF0CCD2AA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B3CD199-76E3-479C-8B5E-EECE54125078}"/>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3579841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1390E-797F-4510-A5BA-B6880CEE126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42C547C5-992C-455C-9A0C-7408CFE35F9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3F894953-D227-4B14-9D41-F208E1B2C7C1}"/>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7F06EFF3-D8B6-493E-B0F4-8231DAA9140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70D180A-F6DC-40E1-A783-722898C87509}"/>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1522887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116C967-767B-4290-8F08-CA06C8E2981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E435C40F-C243-4B03-B349-F48E5ABC22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19F37D9-FF88-4DD5-8DF7-A80C7489C4F1}"/>
              </a:ext>
            </a:extLst>
          </p:cNvPr>
          <p:cNvSpPr>
            <a:spLocks noGrp="1"/>
          </p:cNvSpPr>
          <p:nvPr>
            <p:ph type="dt" sz="half" idx="10"/>
          </p:nvPr>
        </p:nvSpPr>
        <p:spPr/>
        <p:txBody>
          <a:body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162CEFE8-408E-4F49-AC64-6D13FEFA76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E65BA1C-9DAE-437F-86F8-704AD98DBFD2}"/>
              </a:ext>
            </a:extLst>
          </p:cNvPr>
          <p:cNvSpPr>
            <a:spLocks noGrp="1"/>
          </p:cNvSpPr>
          <p:nvPr>
            <p:ph type="sldNum" sz="quarter" idx="12"/>
          </p:nvPr>
        </p:nvSpPr>
        <p:spPr/>
        <p:txBody>
          <a:bodyPr/>
          <a:lstStyle/>
          <a:p>
            <a:fld id="{9845D78E-BEB2-4F7A-B33B-5599779A09C6}" type="slidenum">
              <a:rPr lang="en-US" smtClean="0"/>
              <a:t>‹Nº›</a:t>
            </a:fld>
            <a:endParaRPr lang="en-US"/>
          </a:p>
        </p:txBody>
      </p:sp>
    </p:spTree>
    <p:extLst>
      <p:ext uri="{BB962C8B-B14F-4D97-AF65-F5344CB8AC3E}">
        <p14:creationId xmlns:p14="http://schemas.microsoft.com/office/powerpoint/2010/main" val="1710299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C75D46F-491C-4AB5-8327-8A1C14CFE3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AC80A34-DC28-4519-9E0B-D47205C3D0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AB9C502F-4521-4FB3-BCE4-0CFC174163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74BDCA-9250-4734-98BF-2CD8650B38D2}" type="datetimeFigureOut">
              <a:rPr lang="en-US" smtClean="0"/>
              <a:t>10/24/2026</a:t>
            </a:fld>
            <a:endParaRPr lang="en-US"/>
          </a:p>
        </p:txBody>
      </p:sp>
      <p:sp>
        <p:nvSpPr>
          <p:cNvPr id="5" name="Marcador de pie de página 4">
            <a:extLst>
              <a:ext uri="{FF2B5EF4-FFF2-40B4-BE49-F238E27FC236}">
                <a16:creationId xmlns:a16="http://schemas.microsoft.com/office/drawing/2014/main" id="{528BFCE8-3F68-40DC-B17C-BDB71AA2F3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9564E88A-1F52-4311-9CB9-46E3714245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45D78E-BEB2-4F7A-B33B-5599779A09C6}" type="slidenum">
              <a:rPr lang="en-US" smtClean="0"/>
              <a:t>‹Nº›</a:t>
            </a:fld>
            <a:endParaRPr lang="en-US"/>
          </a:p>
        </p:txBody>
      </p:sp>
    </p:spTree>
    <p:extLst>
      <p:ext uri="{BB962C8B-B14F-4D97-AF65-F5344CB8AC3E}">
        <p14:creationId xmlns:p14="http://schemas.microsoft.com/office/powerpoint/2010/main" val="2917659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oracle.com/en/java/?utm_source=chatgpt.com" TargetMode="External"/><Relationship Id="rId7" Type="http://schemas.openxmlformats.org/officeDocument/2006/relationships/hyperlink" Target="https://luc.devroye.org/books-luc.html?utm_source=chatgpt.com"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www.postgresql.org/docs/?utm_source=chatgpt.com" TargetMode="External"/><Relationship Id="rId5" Type="http://schemas.openxmlformats.org/officeDocument/2006/relationships/hyperlink" Target="https://www.r-project.org/?utm_source=chatgpt.com" TargetMode="External"/><Relationship Id="rId4" Type="http://schemas.openxmlformats.org/officeDocument/2006/relationships/hyperlink" Target="https://docs.python.org/3/?utm_source=chatgpt.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SIMULACIÓN</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3.2 REPORTE DE PRACTICA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latin typeface="Arial" panose="020B0604020202020204" pitchFamily="34" charset="0"/>
                <a:ea typeface="Calibri" panose="020F0502020204030204" pitchFamily="34" charset="0"/>
                <a:cs typeface="Arial" panose="020B0604020202020204" pitchFamily="34" charset="0"/>
              </a:rPr>
              <a:t>09</a:t>
            </a:r>
            <a:r>
              <a:rPr lang="es-ES" sz="1100" b="1" dirty="0">
                <a:effectLst/>
                <a:latin typeface="Arial" panose="020B0604020202020204" pitchFamily="34" charset="0"/>
                <a:ea typeface="Calibri" panose="020F0502020204030204" pitchFamily="34" charset="0"/>
                <a:cs typeface="Arial" panose="020B0604020202020204" pitchFamily="34" charset="0"/>
              </a:rPr>
              <a:t> DE </a:t>
            </a:r>
            <a:r>
              <a:rPr lang="es-ES" sz="1100" b="1" dirty="0">
                <a:latin typeface="Arial" panose="020B0604020202020204" pitchFamily="34" charset="0"/>
                <a:ea typeface="Calibri" panose="020F0502020204030204" pitchFamily="34" charset="0"/>
                <a:cs typeface="Arial" panose="020B0604020202020204" pitchFamily="34" charset="0"/>
              </a:rPr>
              <a:t>OCTUBRE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normAutofit/>
          </a:bodyPr>
          <a:lstStyle/>
          <a:p>
            <a:pPr algn="ctr"/>
            <a:r>
              <a:rPr lang="en-US" b="1" dirty="0"/>
              <a:t>INTRODUCCIÓN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fontScale="77500" lnSpcReduction="20000"/>
          </a:bodyPr>
          <a:lstStyle/>
          <a:p>
            <a:pPr marL="0" indent="0" algn="just">
              <a:buNone/>
            </a:pPr>
            <a:r>
              <a:rPr lang="es-MX" dirty="0"/>
              <a:t>La generación de variables aleatorias es una parte importante de la materia de Simulación, ya que permite representar situaciones de la vida real mediante valores generados a partir de diferentes distribuciones de probabilidad. Gracias a estos métodos, podemos desarrollar programas que nos ayuden a comprender cómo se comportan ciertos procesos, como la llegada de clientes, los tiempos de entrega de paquetes o el tráfico de vehículos.</a:t>
            </a:r>
          </a:p>
          <a:p>
            <a:pPr marL="0" indent="0" algn="just">
              <a:buNone/>
            </a:pPr>
            <a:r>
              <a:rPr lang="es-MX" dirty="0"/>
              <a:t>En esta práctica se llevó a cabo el desarrollo de tres programas utilizando diferentes lenguajes de programación: Java en IntelliJ IDEA, Python en Visual Studio </a:t>
            </a:r>
            <a:r>
              <a:rPr lang="es-MX" dirty="0" err="1"/>
              <a:t>Code</a:t>
            </a:r>
            <a:r>
              <a:rPr lang="es-MX" dirty="0"/>
              <a:t> y R en </a:t>
            </a:r>
            <a:r>
              <a:rPr lang="es-MX" dirty="0" err="1"/>
              <a:t>RStudio</a:t>
            </a:r>
            <a:r>
              <a:rPr lang="es-MX" dirty="0"/>
              <a:t>. Cada programa fue diseñado para simular una situación diferente, incorporando los métodos de transformada inversa, convolución y composición para generar variables aleatorias.</a:t>
            </a:r>
          </a:p>
          <a:p>
            <a:pPr marL="0" indent="0" algn="just">
              <a:buNone/>
            </a:pPr>
            <a:r>
              <a:rPr lang="es-MX" dirty="0"/>
              <a:t>Además, los tres proyectos se relacionaron con bases de datos PostgreSQL, administradas mediante </a:t>
            </a:r>
            <a:r>
              <a:rPr lang="es-MX" dirty="0" err="1"/>
              <a:t>pgAdmin</a:t>
            </a:r>
            <a:r>
              <a:rPr lang="es-MX" dirty="0"/>
              <a:t> 4, con el propósito de almacenar la información generada por las simulaciones. En este reporte se describe el proceso de creación de los proyectos, la organización de sus archivos, la implementación de los métodos de generación y la configuración de sus respectivas bases de datos.</a:t>
            </a:r>
          </a:p>
          <a:p>
            <a:pPr algn="just"/>
            <a:endParaRPr lang="en-US" dirty="0"/>
          </a:p>
        </p:txBody>
      </p:sp>
    </p:spTree>
    <p:extLst>
      <p:ext uri="{BB962C8B-B14F-4D97-AF65-F5344CB8AC3E}">
        <p14:creationId xmlns:p14="http://schemas.microsoft.com/office/powerpoint/2010/main" val="135546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E8A7709B-43FD-4D99-B01F-50F6BAD89896}"/>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a:t>JUSTIFICACIÓN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fontScale="85000" lnSpcReduction="20000"/>
          </a:bodyPr>
          <a:lstStyle/>
          <a:p>
            <a:pPr marL="0" indent="0" algn="just">
              <a:buNone/>
            </a:pPr>
            <a:r>
              <a:rPr lang="es-MX" dirty="0"/>
              <a:t>La realización de esta práctica tiene como finalidad poner en práctica los conocimientos adquiridos sobre la generación de variables aleatorias, utilizando diferentes lenguajes de programación para comprender mejor su funcionamiento y sus aplicaciones.</a:t>
            </a:r>
          </a:p>
          <a:p>
            <a:pPr marL="0" indent="0" algn="just">
              <a:buNone/>
            </a:pPr>
            <a:r>
              <a:rPr lang="es-MX" dirty="0"/>
              <a:t>Se desarrollaron tres programas diferentes para observar cómo los mismos métodos pueden utilizarse en distintas situaciones. En Java se trabajó con un simulador de filas de supermercado, en Python con un simulador de entregas de paquetes y en R con un simulador de tráfico vehicular. De esta manera, se buscó relacionar los conceptos teóricos con ejemplos más cercanos a situaciones reales.</a:t>
            </a:r>
          </a:p>
          <a:p>
            <a:pPr marL="0" indent="0" algn="just">
              <a:buNone/>
            </a:pPr>
            <a:r>
              <a:rPr lang="es-MX" dirty="0"/>
              <a:t>También se consideró importante integrar bases de datos PostgreSQL en los proyectos, ya que permiten organizar y almacenar los datos de cada simulación. Esta práctica nos ayuda a reforzar nuestros conocimientos de programación, manejo de bases de datos y aplicación de métodos matemáticos en el desarrollo de sistemas.</a:t>
            </a:r>
          </a:p>
          <a:p>
            <a:endParaRPr lang="en-US" dirty="0"/>
          </a:p>
        </p:txBody>
      </p:sp>
    </p:spTree>
    <p:extLst>
      <p:ext uri="{BB962C8B-B14F-4D97-AF65-F5344CB8AC3E}">
        <p14:creationId xmlns:p14="http://schemas.microsoft.com/office/powerpoint/2010/main" val="2223717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FDAD922-4661-4EFC-9172-7C27487E74A5}"/>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671223" y="2575588"/>
            <a:ext cx="10515600" cy="1325563"/>
          </a:xfrm>
        </p:spPr>
        <p:txBody>
          <a:bodyPr>
            <a:normAutofit/>
          </a:bodyPr>
          <a:lstStyle/>
          <a:p>
            <a:pPr algn="ctr"/>
            <a:r>
              <a:rPr lang="es-MX" b="1" dirty="0"/>
              <a:t>Desarrollo del simulador de filas en un supermercado utilizando Java</a:t>
            </a:r>
          </a:p>
        </p:txBody>
      </p:sp>
    </p:spTree>
    <p:extLst>
      <p:ext uri="{BB962C8B-B14F-4D97-AF65-F5344CB8AC3E}">
        <p14:creationId xmlns:p14="http://schemas.microsoft.com/office/powerpoint/2010/main" val="1701041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Implementación del método de la transformada inversa</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del programa se implementó el método de la transformada inversa, utilizando la función </a:t>
            </a:r>
            <a:r>
              <a:rPr lang="es-MX" dirty="0" err="1"/>
              <a:t>random.nextDouble</a:t>
            </a:r>
            <a:r>
              <a:rPr lang="es-MX" dirty="0"/>
              <a:t>() para generar números aleatorios entre 0 y 1. Posteriormente, estos valores se transforman mediante una fórmula matemática para obtener tiempos aleatorios de llegada y atención de los clientes del supermercado.</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3311648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Implementación del método de convolución</a:t>
            </a:r>
            <a:endParaRPr lang="en-US"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del programa se implementó el método de convolución, el cual consiste en sumar dos variables aleatorias independientes para obtener un nuevo valor. En nuestro simulador de supermercado se utilizó para generar los tiempos de atención de los clientes, permitiendo representar diferentes duraciones del servicio.</a:t>
            </a:r>
          </a:p>
          <a:p>
            <a:endParaRPr lang="en-US" dirty="0"/>
          </a:p>
          <a:p>
            <a:endParaRPr lang="es-MX" dirty="0"/>
          </a:p>
          <a:p>
            <a:endParaRPr lang="es-MX" dirty="0"/>
          </a:p>
          <a:p>
            <a:endParaRPr lang="en-US" dirty="0"/>
          </a:p>
        </p:txBody>
      </p:sp>
    </p:spTree>
    <p:extLst>
      <p:ext uri="{BB962C8B-B14F-4D97-AF65-F5344CB8AC3E}">
        <p14:creationId xmlns:p14="http://schemas.microsoft.com/office/powerpoint/2010/main" val="940768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Implementación del método de composición</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del programa se implementó el método de composición, el cual permite generar variables aleatorias combinando diferentes distribuciones de probabilidad. En nuestro simulador se utilizó para representar distintos tiempos de atención, considerando un 75% de probabilidad de atención rápida y un 25% de atención más prolongada.</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025160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Creación de la base de datos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2031325"/>
          </a:xfrm>
          <a:prstGeom prst="rect">
            <a:avLst/>
          </a:prstGeom>
          <a:noFill/>
        </p:spPr>
        <p:txBody>
          <a:bodyPr wrap="square" rtlCol="0">
            <a:spAutoFit/>
          </a:bodyPr>
          <a:lstStyle/>
          <a:p>
            <a:pPr algn="just"/>
            <a:r>
              <a:rPr lang="es-MX" dirty="0"/>
              <a:t>Para almacenar la información de nuestro simulador de supermercado, se creó una base de datos en PostgreSQL llamada </a:t>
            </a:r>
            <a:r>
              <a:rPr lang="es-MX" dirty="0" err="1"/>
              <a:t>supermarket_simulator_db</a:t>
            </a:r>
            <a:r>
              <a:rPr lang="es-MX" dirty="0"/>
              <a:t>, utilizando </a:t>
            </a:r>
            <a:r>
              <a:rPr lang="es-MX" dirty="0" err="1"/>
              <a:t>pgAdmin</a:t>
            </a:r>
            <a:r>
              <a:rPr lang="es-MX" dirty="0"/>
              <a:t> 4. Esta base permite organizar y guardar los datos generados durante las simulaciones.</a:t>
            </a:r>
          </a:p>
          <a:p>
            <a:endParaRPr lang="es-MX" dirty="0"/>
          </a:p>
          <a:p>
            <a:endParaRPr lang="en-US" dirty="0"/>
          </a:p>
        </p:txBody>
      </p:sp>
    </p:spTree>
    <p:extLst>
      <p:ext uri="{BB962C8B-B14F-4D97-AF65-F5344CB8AC3E}">
        <p14:creationId xmlns:p14="http://schemas.microsoft.com/office/powerpoint/2010/main" val="1980355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Creación de las tablas de la base de datos</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0413" y="1690688"/>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1735158" y="5280868"/>
            <a:ext cx="8430818" cy="2308324"/>
          </a:xfrm>
          <a:prstGeom prst="rect">
            <a:avLst/>
          </a:prstGeom>
          <a:noFill/>
        </p:spPr>
        <p:txBody>
          <a:bodyPr wrap="square" rtlCol="0">
            <a:spAutoFit/>
          </a:bodyPr>
          <a:lstStyle/>
          <a:p>
            <a:pPr algn="just"/>
            <a:r>
              <a:rPr lang="es-MX" dirty="0"/>
              <a:t>En esta parte se muestran las tablas </a:t>
            </a:r>
            <a:r>
              <a:rPr lang="es-MX" dirty="0" err="1"/>
              <a:t>simulations</a:t>
            </a:r>
            <a:r>
              <a:rPr lang="es-MX" dirty="0"/>
              <a:t> y </a:t>
            </a:r>
            <a:r>
              <a:rPr lang="es-MX" dirty="0" err="1"/>
              <a:t>customers</a:t>
            </a:r>
            <a:r>
              <a:rPr lang="es-MX" dirty="0"/>
              <a:t>, las cuales fueron creadas automáticamente mediante el código Java. Estas permiten almacenar los datos generales de cada simulación y la información de los clientes, incluyendo sus tiempos de llegada, espera y atención.</a:t>
            </a:r>
          </a:p>
          <a:p>
            <a:endParaRPr lang="en-US" dirty="0"/>
          </a:p>
          <a:p>
            <a:endParaRPr lang="es-MX" dirty="0"/>
          </a:p>
          <a:p>
            <a:endParaRPr lang="es-MX" dirty="0"/>
          </a:p>
          <a:p>
            <a:endParaRPr lang="en-US" dirty="0"/>
          </a:p>
        </p:txBody>
      </p:sp>
      <p:pic>
        <p:nvPicPr>
          <p:cNvPr id="6" name="Imagen 5">
            <a:extLst>
              <a:ext uri="{FF2B5EF4-FFF2-40B4-BE49-F238E27FC236}">
                <a16:creationId xmlns:a16="http://schemas.microsoft.com/office/drawing/2014/main" id="{07336DEC-2EFF-4BEF-9C61-780C890BC6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911118" y="1690688"/>
            <a:ext cx="5430291" cy="3053654"/>
          </a:xfrm>
          <a:prstGeom prst="rect">
            <a:avLst/>
          </a:prstGeom>
        </p:spPr>
      </p:pic>
    </p:spTree>
    <p:extLst>
      <p:ext uri="{BB962C8B-B14F-4D97-AF65-F5344CB8AC3E}">
        <p14:creationId xmlns:p14="http://schemas.microsoft.com/office/powerpoint/2010/main" val="304345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0000"/>
            <a:ext cx="12192000" cy="8128000"/>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671223" y="2575588"/>
            <a:ext cx="10515600" cy="1325563"/>
          </a:xfrm>
        </p:spPr>
        <p:txBody>
          <a:bodyPr>
            <a:normAutofit/>
          </a:bodyPr>
          <a:lstStyle/>
          <a:p>
            <a:pPr algn="ctr"/>
            <a:r>
              <a:rPr lang="es-MX" b="1" dirty="0"/>
              <a:t>Desarrollo del simulador de entregas de paquetes en Python</a:t>
            </a:r>
            <a:endParaRPr lang="en-US" b="1" dirty="0"/>
          </a:p>
        </p:txBody>
      </p:sp>
    </p:spTree>
    <p:extLst>
      <p:ext uri="{BB962C8B-B14F-4D97-AF65-F5344CB8AC3E}">
        <p14:creationId xmlns:p14="http://schemas.microsoft.com/office/powerpoint/2010/main" val="194139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n-US"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0" y="2321426"/>
            <a:ext cx="5430293"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2862322"/>
          </a:xfrm>
          <a:prstGeom prst="rect">
            <a:avLst/>
          </a:prstGeom>
          <a:noFill/>
        </p:spPr>
        <p:txBody>
          <a:bodyPr wrap="square" rtlCol="0">
            <a:spAutoFit/>
          </a:bodyPr>
          <a:lstStyle/>
          <a:p>
            <a:pPr algn="just"/>
            <a:r>
              <a:rPr lang="es-MX" dirty="0"/>
              <a:t>En esta parte del programa se implementó el método de la transformada inversa, el cual permite transformar números uniformes en valores con distribución exponencial. En nuestro simulador de paquetería se utilizó para generar tiempos aleatorios de preparación y demoras de transporte de los paquetes.</a:t>
            </a:r>
          </a:p>
          <a:p>
            <a:endParaRPr lang="en-US" dirty="0"/>
          </a:p>
          <a:p>
            <a:endParaRPr lang="es-MX" dirty="0"/>
          </a:p>
          <a:p>
            <a:endParaRPr lang="es-MX" dirty="0"/>
          </a:p>
          <a:p>
            <a:endParaRPr lang="en-US" dirty="0"/>
          </a:p>
        </p:txBody>
      </p:sp>
    </p:spTree>
    <p:extLst>
      <p:ext uri="{BB962C8B-B14F-4D97-AF65-F5344CB8AC3E}">
        <p14:creationId xmlns:p14="http://schemas.microsoft.com/office/powerpoint/2010/main" val="2684138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Implementación del método de convolución</a:t>
            </a:r>
            <a:endParaRPr lang="en-US"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2862322"/>
          </a:xfrm>
          <a:prstGeom prst="rect">
            <a:avLst/>
          </a:prstGeom>
          <a:noFill/>
        </p:spPr>
        <p:txBody>
          <a:bodyPr wrap="square" rtlCol="0">
            <a:spAutoFit/>
          </a:bodyPr>
          <a:lstStyle/>
          <a:p>
            <a:pPr algn="just"/>
            <a:r>
              <a:rPr lang="es-MX" dirty="0"/>
              <a:t>En esta parte del programa se implementó el método de convolución, que consiste en sumar dos variables aleatorias independientes. En nuestro simulador de paquetería se utilizó para generar tiempos de entrega, considerando la combinación de diferentes duraciones durante el proceso.</a:t>
            </a:r>
          </a:p>
          <a:p>
            <a:endParaRPr lang="en-US" dirty="0"/>
          </a:p>
          <a:p>
            <a:endParaRPr lang="es-MX" dirty="0"/>
          </a:p>
          <a:p>
            <a:endParaRPr lang="es-MX" dirty="0"/>
          </a:p>
          <a:p>
            <a:endParaRPr lang="en-US" dirty="0"/>
          </a:p>
        </p:txBody>
      </p:sp>
    </p:spTree>
    <p:extLst>
      <p:ext uri="{BB962C8B-B14F-4D97-AF65-F5344CB8AC3E}">
        <p14:creationId xmlns:p14="http://schemas.microsoft.com/office/powerpoint/2010/main" val="3612286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composición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0" y="2321426"/>
            <a:ext cx="5430293"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096000" y="2662038"/>
            <a:ext cx="5366028" cy="2308324"/>
          </a:xfrm>
          <a:prstGeom prst="rect">
            <a:avLst/>
          </a:prstGeom>
          <a:noFill/>
        </p:spPr>
        <p:txBody>
          <a:bodyPr wrap="square" rtlCol="0">
            <a:spAutoFit/>
          </a:bodyPr>
          <a:lstStyle/>
          <a:p>
            <a:r>
              <a:rPr lang="es-MX" dirty="0"/>
              <a:t>En esta parte del programa se implementó el método de composición, el cual combina diferentes distribuciones de probabilidad. En nuestro simulador de paquetería se utilizó para representar un 80% de entregas rápidas y un 20% de entregas más tardadas, generando distintos tiempos durante el proceso.</a:t>
            </a:r>
          </a:p>
          <a:p>
            <a:endParaRPr lang="es-MX" dirty="0"/>
          </a:p>
          <a:p>
            <a:endParaRPr lang="en-US" dirty="0"/>
          </a:p>
        </p:txBody>
      </p:sp>
    </p:spTree>
    <p:extLst>
      <p:ext uri="{BB962C8B-B14F-4D97-AF65-F5344CB8AC3E}">
        <p14:creationId xmlns:p14="http://schemas.microsoft.com/office/powerpoint/2010/main" val="147635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r>
              <a:rPr lang="es-MX" b="1" dirty="0"/>
              <a:t>Creación de la base de datos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096000" y="2662038"/>
            <a:ext cx="5366028" cy="2031325"/>
          </a:xfrm>
          <a:prstGeom prst="rect">
            <a:avLst/>
          </a:prstGeom>
          <a:noFill/>
        </p:spPr>
        <p:txBody>
          <a:bodyPr wrap="square" rtlCol="0">
            <a:spAutoFit/>
          </a:bodyPr>
          <a:lstStyle/>
          <a:p>
            <a:pPr algn="just"/>
            <a:r>
              <a:rPr lang="es-MX" dirty="0"/>
              <a:t>Para nuestro simulador de entregas de paquetes, se creó una base de datos en PostgreSQL utilizando </a:t>
            </a:r>
            <a:r>
              <a:rPr lang="es-MX" dirty="0" err="1"/>
              <a:t>pgAdmin</a:t>
            </a:r>
            <a:r>
              <a:rPr lang="es-MX" dirty="0"/>
              <a:t> 4. Su función es almacenar y organizar la información de los pedidos, las entregas y las simulaciones realizadas desde Python.</a:t>
            </a:r>
          </a:p>
          <a:p>
            <a:endParaRPr lang="es-MX" dirty="0"/>
          </a:p>
          <a:p>
            <a:endParaRPr lang="en-US" dirty="0"/>
          </a:p>
        </p:txBody>
      </p:sp>
    </p:spTree>
    <p:extLst>
      <p:ext uri="{BB962C8B-B14F-4D97-AF65-F5344CB8AC3E}">
        <p14:creationId xmlns:p14="http://schemas.microsoft.com/office/powerpoint/2010/main" val="1854054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Creación de las tablas de la base de datos</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1448" y="1568390"/>
            <a:ext cx="5430291"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1299882" y="5167333"/>
            <a:ext cx="8880193" cy="1477328"/>
          </a:xfrm>
          <a:prstGeom prst="rect">
            <a:avLst/>
          </a:prstGeom>
          <a:noFill/>
        </p:spPr>
        <p:txBody>
          <a:bodyPr wrap="square" rtlCol="0">
            <a:spAutoFit/>
          </a:bodyPr>
          <a:lstStyle/>
          <a:p>
            <a:pPr algn="just"/>
            <a:r>
              <a:rPr lang="es-MX" dirty="0"/>
              <a:t>En esta parte se muestran las cuatro tablas de nuestra base de datos, creadas mediante el código Python. Estas permiten almacenar los datos de los pedidos, los tiempos de entrega, las simulaciones realizadas y los resultados de las pruebas estadísticas.</a:t>
            </a:r>
          </a:p>
          <a:p>
            <a:endParaRPr lang="es-MX" dirty="0"/>
          </a:p>
          <a:p>
            <a:endParaRPr lang="en-US" dirty="0"/>
          </a:p>
        </p:txBody>
      </p:sp>
      <p:pic>
        <p:nvPicPr>
          <p:cNvPr id="6" name="Imagen 5">
            <a:extLst>
              <a:ext uri="{FF2B5EF4-FFF2-40B4-BE49-F238E27FC236}">
                <a16:creationId xmlns:a16="http://schemas.microsoft.com/office/drawing/2014/main" id="{9720385B-89FF-43D1-8B05-AC8DC777CA5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92624" y="1568390"/>
            <a:ext cx="5430291" cy="3053653"/>
          </a:xfrm>
          <a:prstGeom prst="rect">
            <a:avLst/>
          </a:prstGeom>
        </p:spPr>
      </p:pic>
    </p:spTree>
    <p:extLst>
      <p:ext uri="{BB962C8B-B14F-4D97-AF65-F5344CB8AC3E}">
        <p14:creationId xmlns:p14="http://schemas.microsoft.com/office/powerpoint/2010/main" val="417377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1448" y="1568390"/>
            <a:ext cx="5430291" cy="3053653"/>
          </a:xfrm>
          <a:prstGeom prst="rect">
            <a:avLst/>
          </a:prstGeom>
        </p:spPr>
      </p:pic>
      <p:pic>
        <p:nvPicPr>
          <p:cNvPr id="6" name="Imagen 5">
            <a:extLst>
              <a:ext uri="{FF2B5EF4-FFF2-40B4-BE49-F238E27FC236}">
                <a16:creationId xmlns:a16="http://schemas.microsoft.com/office/drawing/2014/main" id="{9720385B-89FF-43D1-8B05-AC8DC777CA5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92624" y="1568390"/>
            <a:ext cx="5430291" cy="3053653"/>
          </a:xfrm>
          <a:prstGeom prst="rect">
            <a:avLst/>
          </a:prstGeom>
        </p:spPr>
      </p:pic>
      <p:sp>
        <p:nvSpPr>
          <p:cNvPr id="9" name="Título 7">
            <a:extLst>
              <a:ext uri="{FF2B5EF4-FFF2-40B4-BE49-F238E27FC236}">
                <a16:creationId xmlns:a16="http://schemas.microsoft.com/office/drawing/2014/main" id="{F1BC453A-23E1-4655-9DDC-9AC1029705BF}"/>
              </a:ext>
            </a:extLst>
          </p:cNvPr>
          <p:cNvSpPr>
            <a:spLocks noGrp="1"/>
          </p:cNvSpPr>
          <p:nvPr>
            <p:ph type="title"/>
          </p:nvPr>
        </p:nvSpPr>
        <p:spPr>
          <a:xfrm>
            <a:off x="838200" y="365125"/>
            <a:ext cx="10515600" cy="1325563"/>
          </a:xfrm>
        </p:spPr>
        <p:txBody>
          <a:bodyPr/>
          <a:lstStyle/>
          <a:p>
            <a:pPr algn="ctr"/>
            <a:r>
              <a:rPr lang="es-MX" b="1" dirty="0"/>
              <a:t>Siguientes tablas</a:t>
            </a:r>
          </a:p>
        </p:txBody>
      </p:sp>
    </p:spTree>
    <p:extLst>
      <p:ext uri="{BB962C8B-B14F-4D97-AF65-F5344CB8AC3E}">
        <p14:creationId xmlns:p14="http://schemas.microsoft.com/office/powerpoint/2010/main" val="216513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0000"/>
            <a:ext cx="12192000" cy="8128000"/>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671223" y="2575588"/>
            <a:ext cx="10515600" cy="1325563"/>
          </a:xfrm>
        </p:spPr>
        <p:txBody>
          <a:bodyPr>
            <a:normAutofit/>
          </a:bodyPr>
          <a:lstStyle/>
          <a:p>
            <a:pPr algn="ctr"/>
            <a:r>
              <a:rPr lang="es-MX" b="1" dirty="0"/>
              <a:t>Desarrollo del simulador de tráfico vehicular en </a:t>
            </a:r>
            <a:r>
              <a:rPr lang="es-MX" b="1" dirty="0" err="1"/>
              <a:t>RStudio</a:t>
            </a:r>
            <a:endParaRPr lang="es-MX" b="1" dirty="0"/>
          </a:p>
        </p:txBody>
      </p:sp>
    </p:spTree>
    <p:extLst>
      <p:ext uri="{BB962C8B-B14F-4D97-AF65-F5344CB8AC3E}">
        <p14:creationId xmlns:p14="http://schemas.microsoft.com/office/powerpoint/2010/main" val="451824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096000" y="2662038"/>
            <a:ext cx="5366028" cy="2308324"/>
          </a:xfrm>
          <a:prstGeom prst="rect">
            <a:avLst/>
          </a:prstGeom>
          <a:noFill/>
        </p:spPr>
        <p:txBody>
          <a:bodyPr wrap="square" rtlCol="0">
            <a:spAutoFit/>
          </a:bodyPr>
          <a:lstStyle/>
          <a:p>
            <a:pPr algn="just"/>
            <a:r>
              <a:rPr lang="es-MX" dirty="0"/>
              <a:t>En esta parte del programa se implementó el método de la transformada inversa, el cual permite convertir números uniformes en valores con distribución exponencial. En nuestro simulador de tráfico vehicular se utilizó para generar tiempos aleatorios entre las llegadas de los vehículos.</a:t>
            </a:r>
          </a:p>
          <a:p>
            <a:endParaRPr lang="es-MX" dirty="0"/>
          </a:p>
          <a:p>
            <a:endParaRPr lang="en-US" dirty="0"/>
          </a:p>
        </p:txBody>
      </p:sp>
    </p:spTree>
    <p:extLst>
      <p:ext uri="{BB962C8B-B14F-4D97-AF65-F5344CB8AC3E}">
        <p14:creationId xmlns:p14="http://schemas.microsoft.com/office/powerpoint/2010/main" val="381630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r>
              <a:rPr lang="es-MX" b="1" dirty="0"/>
              <a:t>Implementación del método de convolución</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096000" y="2662038"/>
            <a:ext cx="5366028" cy="2031325"/>
          </a:xfrm>
          <a:prstGeom prst="rect">
            <a:avLst/>
          </a:prstGeom>
          <a:noFill/>
        </p:spPr>
        <p:txBody>
          <a:bodyPr wrap="square" rtlCol="0">
            <a:spAutoFit/>
          </a:bodyPr>
          <a:lstStyle/>
          <a:p>
            <a:pPr algn="just"/>
            <a:r>
              <a:rPr lang="es-MX" dirty="0"/>
              <a:t>En esta parte del programa se implementó el método de convolución, que consiste en sumar dos variables aleatorias independientes. En nuestro simulador de tráfico vehicular se utilizó para generar diferentes tiempos entre las llegadas de los vehículos.</a:t>
            </a:r>
          </a:p>
          <a:p>
            <a:endParaRPr lang="es-MX" dirty="0"/>
          </a:p>
          <a:p>
            <a:endParaRPr lang="en-US" dirty="0"/>
          </a:p>
        </p:txBody>
      </p:sp>
    </p:spTree>
    <p:extLst>
      <p:ext uri="{BB962C8B-B14F-4D97-AF65-F5344CB8AC3E}">
        <p14:creationId xmlns:p14="http://schemas.microsoft.com/office/powerpoint/2010/main" val="2485970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just"/>
            <a:r>
              <a:rPr lang="es-MX" b="1" dirty="0"/>
              <a:t>Creación de la base de datos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096000" y="2662038"/>
            <a:ext cx="5366028" cy="2031325"/>
          </a:xfrm>
          <a:prstGeom prst="rect">
            <a:avLst/>
          </a:prstGeom>
          <a:noFill/>
        </p:spPr>
        <p:txBody>
          <a:bodyPr wrap="square" rtlCol="0">
            <a:spAutoFit/>
          </a:bodyPr>
          <a:lstStyle/>
          <a:p>
            <a:pPr algn="just"/>
            <a:r>
              <a:rPr lang="es-MX" dirty="0"/>
              <a:t>Para nuestro simulador de tráfico vehicular, se creó una base de datos en PostgreSQL utilizando </a:t>
            </a:r>
            <a:r>
              <a:rPr lang="es-MX" dirty="0" err="1"/>
              <a:t>pgAdmin</a:t>
            </a:r>
            <a:r>
              <a:rPr lang="es-MX" dirty="0"/>
              <a:t> 4. Su función es almacenar y organizar la información de los vehículos, semáforos y simulaciones realizadas mediante </a:t>
            </a:r>
            <a:r>
              <a:rPr lang="es-MX" dirty="0" err="1"/>
              <a:t>RStudio</a:t>
            </a:r>
            <a:r>
              <a:rPr lang="es-MX" dirty="0"/>
              <a:t>.</a:t>
            </a:r>
          </a:p>
          <a:p>
            <a:endParaRPr lang="es-MX" dirty="0"/>
          </a:p>
          <a:p>
            <a:endParaRPr lang="en-US" dirty="0"/>
          </a:p>
        </p:txBody>
      </p:sp>
    </p:spTree>
    <p:extLst>
      <p:ext uri="{BB962C8B-B14F-4D97-AF65-F5344CB8AC3E}">
        <p14:creationId xmlns:p14="http://schemas.microsoft.com/office/powerpoint/2010/main" val="2997198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r>
              <a:rPr lang="es-MX" b="1" dirty="0"/>
              <a:t>Creación de las tablas de la base de datos</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2017" y="1639709"/>
            <a:ext cx="5359474" cy="3053654"/>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1394011" y="5037019"/>
            <a:ext cx="9403977" cy="1477328"/>
          </a:xfrm>
          <a:prstGeom prst="rect">
            <a:avLst/>
          </a:prstGeom>
          <a:noFill/>
        </p:spPr>
        <p:txBody>
          <a:bodyPr wrap="square" rtlCol="0">
            <a:spAutoFit/>
          </a:bodyPr>
          <a:lstStyle/>
          <a:p>
            <a:r>
              <a:rPr lang="es-MX" dirty="0"/>
              <a:t>En esta parte se muestran las cinco tablas de nuestra base de datos, creadas mediante el código R. Estas permiten almacenar la información de los semáforos, vehículos, simulaciones, resultados del tráfico y pruebas estadísticas realizadas.</a:t>
            </a:r>
          </a:p>
          <a:p>
            <a:endParaRPr lang="es-MX" dirty="0"/>
          </a:p>
          <a:p>
            <a:endParaRPr lang="en-US" dirty="0"/>
          </a:p>
        </p:txBody>
      </p:sp>
      <p:pic>
        <p:nvPicPr>
          <p:cNvPr id="6" name="Imagen 5">
            <a:extLst>
              <a:ext uri="{FF2B5EF4-FFF2-40B4-BE49-F238E27FC236}">
                <a16:creationId xmlns:a16="http://schemas.microsoft.com/office/drawing/2014/main" id="{A19A7DF9-90D7-4E41-8594-65A480DD3B2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923509" y="1639709"/>
            <a:ext cx="5430291" cy="3053653"/>
          </a:xfrm>
          <a:prstGeom prst="rect">
            <a:avLst/>
          </a:prstGeom>
        </p:spPr>
      </p:pic>
    </p:spTree>
    <p:extLst>
      <p:ext uri="{BB962C8B-B14F-4D97-AF65-F5344CB8AC3E}">
        <p14:creationId xmlns:p14="http://schemas.microsoft.com/office/powerpoint/2010/main" val="750472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Creación de las otras tablas</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2597" y="1461787"/>
            <a:ext cx="4612712" cy="2607500"/>
          </a:xfrm>
          <a:prstGeom prst="rect">
            <a:avLst/>
          </a:prstGeom>
        </p:spPr>
      </p:pic>
      <p:pic>
        <p:nvPicPr>
          <p:cNvPr id="6" name="Imagen 5">
            <a:extLst>
              <a:ext uri="{FF2B5EF4-FFF2-40B4-BE49-F238E27FC236}">
                <a16:creationId xmlns:a16="http://schemas.microsoft.com/office/drawing/2014/main" id="{A19A7DF9-90D7-4E41-8594-65A480DD3B2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6000" y="1420399"/>
            <a:ext cx="4728881" cy="2659225"/>
          </a:xfrm>
          <a:prstGeom prst="rect">
            <a:avLst/>
          </a:prstGeom>
        </p:spPr>
      </p:pic>
      <p:pic>
        <p:nvPicPr>
          <p:cNvPr id="9" name="Imagen 8">
            <a:extLst>
              <a:ext uri="{FF2B5EF4-FFF2-40B4-BE49-F238E27FC236}">
                <a16:creationId xmlns:a16="http://schemas.microsoft.com/office/drawing/2014/main" id="{E6D1AFBD-1519-4CCA-A403-05529B85375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100786" y="4171864"/>
            <a:ext cx="4612712" cy="2593899"/>
          </a:xfrm>
          <a:prstGeom prst="rect">
            <a:avLst/>
          </a:prstGeom>
        </p:spPr>
      </p:pic>
    </p:spTree>
    <p:extLst>
      <p:ext uri="{BB962C8B-B14F-4D97-AF65-F5344CB8AC3E}">
        <p14:creationId xmlns:p14="http://schemas.microsoft.com/office/powerpoint/2010/main" val="1424166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5996C15-0E40-42EB-B5FF-6FD8E882D637}"/>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a:t>CONCLUSIÓN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a:bodyPr>
          <a:lstStyle/>
          <a:p>
            <a:pPr marL="0" indent="0" algn="just">
              <a:buNone/>
            </a:pPr>
            <a:r>
              <a:rPr lang="es-MX" dirty="0"/>
              <a:t>Durante esta práctica aprendí cómo aplicar los métodos de transformada inversa, convolución y composición en diferentes lenguajes de programación, como Java, Python y R. Cada programa nos permitió representar situaciones distintas, como las filas de un supermercado, las entregas de paquetes y el tráfico vehicular. También reforcé mis conocimientos sobre la creación y conexión de bases de datos en PostgreSQL para almacenar la información de las simulaciones. En conclusión, esta actividad me ayudó a comprender mejor cómo se utilizan las variables aleatorias en la programación y su importancia para simular situaciones de la vida real.</a:t>
            </a:r>
          </a:p>
          <a:p>
            <a:endParaRPr lang="en-US" dirty="0"/>
          </a:p>
        </p:txBody>
      </p:sp>
    </p:spTree>
    <p:extLst>
      <p:ext uri="{BB962C8B-B14F-4D97-AF65-F5344CB8AC3E}">
        <p14:creationId xmlns:p14="http://schemas.microsoft.com/office/powerpoint/2010/main" val="610794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2914670-D94E-4EEE-9232-6D9BA7BDA6E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a:t>FUENTES DE INFORMACIÓN</a:t>
            </a:r>
          </a:p>
        </p:txBody>
      </p:sp>
      <p:sp>
        <p:nvSpPr>
          <p:cNvPr id="3" name="Rectangle 2">
            <a:extLst>
              <a:ext uri="{FF2B5EF4-FFF2-40B4-BE49-F238E27FC236}">
                <a16:creationId xmlns:a16="http://schemas.microsoft.com/office/drawing/2014/main" id="{2650846A-1200-4EBE-A2FE-939DD067580F}"/>
              </a:ext>
            </a:extLst>
          </p:cNvPr>
          <p:cNvSpPr>
            <a:spLocks noChangeArrowheads="1"/>
          </p:cNvSpPr>
          <p:nvPr/>
        </p:nvSpPr>
        <p:spPr bwMode="auto">
          <a:xfrm>
            <a:off x="1030940" y="2274838"/>
            <a:ext cx="99799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Ross, S. M. (2013). Simulation (5.ª </a:t>
            </a:r>
            <a:r>
              <a:rPr kumimoji="0" lang="en-US" altLang="en-US" sz="1800" b="0" i="0" u="none" strike="noStrike" cap="none" normalizeH="0" baseline="0" dirty="0" err="1">
                <a:ln>
                  <a:noFill/>
                </a:ln>
                <a:solidFill>
                  <a:schemeClr val="tx1"/>
                </a:solidFill>
                <a:effectLst/>
                <a:latin typeface="Arial" panose="020B0604020202020204" pitchFamily="34" charset="0"/>
              </a:rPr>
              <a:t>edición</a:t>
            </a:r>
            <a:r>
              <a:rPr kumimoji="0" lang="en-US" altLang="en-US" sz="1800" b="0" i="0" u="none" strike="noStrike" cap="none" normalizeH="0" baseline="0" dirty="0">
                <a:ln>
                  <a:noFill/>
                </a:ln>
                <a:solidFill>
                  <a:schemeClr val="tx1"/>
                </a:solidFill>
                <a:effectLst/>
                <a:latin typeface="Arial" panose="020B0604020202020204" pitchFamily="34" charset="0"/>
              </a:rPr>
              <a:t>). Academic Press.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Oracle. (s. f.). Java Documentation.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https://docs.oracle.com/en/java/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 Software Foundation. (s. f.). Python Documentation.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https://docs.python.org/3/</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 Core Team. (s. f.). The R Project for Statistical Computing.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https://www.r-project.org/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PostgreSQL Global Development Group. (s. f.). PostgreSQL Documentation.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https://www.postgresql.org/docs/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Devroye</a:t>
            </a:r>
            <a:r>
              <a:rPr kumimoji="0" lang="en-US" altLang="en-US" sz="1800" b="0" i="0" u="none" strike="noStrike" cap="none" normalizeH="0" baseline="0" dirty="0">
                <a:ln>
                  <a:noFill/>
                </a:ln>
                <a:solidFill>
                  <a:schemeClr val="tx1"/>
                </a:solidFill>
                <a:effectLst/>
                <a:latin typeface="Arial" panose="020B0604020202020204" pitchFamily="34" charset="0"/>
              </a:rPr>
              <a:t>, L. (1986). Non-Uniform Random Variate Generation. Springer-Verlag.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https://luc.devroye.org/books-luc.html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1574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2914670-D94E-4EEE-9232-6D9BA7BDA6E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a:t>ENLACE A GIT-HUB</a:t>
            </a:r>
          </a:p>
        </p:txBody>
      </p:sp>
      <p:sp>
        <p:nvSpPr>
          <p:cNvPr id="3" name="Rectangle 2">
            <a:extLst>
              <a:ext uri="{FF2B5EF4-FFF2-40B4-BE49-F238E27FC236}">
                <a16:creationId xmlns:a16="http://schemas.microsoft.com/office/drawing/2014/main" id="{2650846A-1200-4EBE-A2FE-939DD067580F}"/>
              </a:ext>
            </a:extLst>
          </p:cNvPr>
          <p:cNvSpPr>
            <a:spLocks noChangeArrowheads="1"/>
          </p:cNvSpPr>
          <p:nvPr/>
        </p:nvSpPr>
        <p:spPr bwMode="auto">
          <a:xfrm>
            <a:off x="1030940" y="3244334"/>
            <a:ext cx="99799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7537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1413</Words>
  <Application>Microsoft Office PowerPoint</Application>
  <PresentationFormat>Panorámica</PresentationFormat>
  <Paragraphs>78</Paragraphs>
  <Slides>25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Calibri Light</vt:lpstr>
      <vt:lpstr>Tema de Office</vt:lpstr>
      <vt:lpstr>Presentación de PowerPoint</vt:lpstr>
      <vt:lpstr>INTRODUCCIÓN</vt:lpstr>
      <vt:lpstr>JUSTIFICACIÓN</vt:lpstr>
      <vt:lpstr>Desarrollo del simulador de filas en un supermercado utilizando Java</vt:lpstr>
      <vt:lpstr>Implementación del método de la transformada inversa</vt:lpstr>
      <vt:lpstr>Implementación del método de convolución</vt:lpstr>
      <vt:lpstr>Implementación del método de composición</vt:lpstr>
      <vt:lpstr>Creación de la base de datos en PostgreSQL</vt:lpstr>
      <vt:lpstr>Creación de las tablas de la base de datos</vt:lpstr>
      <vt:lpstr>Desarrollo del simulador de entregas de paquetes en Python</vt:lpstr>
      <vt:lpstr>Método de la transformada inversa</vt:lpstr>
      <vt:lpstr>Implementación del método de convolución</vt:lpstr>
      <vt:lpstr>Método de composición</vt:lpstr>
      <vt:lpstr>Creación de la base de datos en PostgreSQL</vt:lpstr>
      <vt:lpstr>Creación de las tablas de la base de datos</vt:lpstr>
      <vt:lpstr>Siguientes tablas</vt:lpstr>
      <vt:lpstr>Desarrollo del simulador de tráfico vehicular en RStudio</vt:lpstr>
      <vt:lpstr>Método de la transformada inversa</vt:lpstr>
      <vt:lpstr>Implementación del método de convolución</vt:lpstr>
      <vt:lpstr>Creación de la base de datos en PostgreSQL</vt:lpstr>
      <vt:lpstr>Creación de las tablas de la base de datos</vt:lpstr>
      <vt:lpstr>Creación de las otras tablas</vt:lpstr>
      <vt:lpstr>CONCLUSIÓN</vt:lpstr>
      <vt:lpstr>FUENTES DE INFORMACIÓN</vt:lpstr>
      <vt:lpstr>ENLACE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13</cp:revision>
  <dcterms:created xsi:type="dcterms:W3CDTF">2026-10-25T01:47:35Z</dcterms:created>
  <dcterms:modified xsi:type="dcterms:W3CDTF">2026-10-25T05:19:32Z</dcterms:modified>
</cp:coreProperties>
</file>