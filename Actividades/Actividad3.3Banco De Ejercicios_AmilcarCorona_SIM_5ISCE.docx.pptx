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79" r:id="rId3"/>
    <p:sldId id="280" r:id="rId4"/>
    <p:sldId id="290" r:id="rId5"/>
    <p:sldId id="288" r:id="rId6"/>
    <p:sldId id="291" r:id="rId7"/>
    <p:sldId id="292" r:id="rId8"/>
    <p:sldId id="293" r:id="rId9"/>
    <p:sldId id="294" r:id="rId10"/>
    <p:sldId id="296" r:id="rId11"/>
    <p:sldId id="295"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3104B2-F663-46A6-A80C-D2B235A9CD2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931DC83B-F550-40C3-AD3F-2C2F11BB52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94F9BE4C-D090-4C46-9869-46CD99DC7DA0}"/>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5" name="Marcador de pie de página 4">
            <a:extLst>
              <a:ext uri="{FF2B5EF4-FFF2-40B4-BE49-F238E27FC236}">
                <a16:creationId xmlns:a16="http://schemas.microsoft.com/office/drawing/2014/main" id="{33A6ED24-47F5-4D32-8D4F-89168604F82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E27D6BD5-E2EF-4BCC-BC7C-0703F310A281}"/>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2079099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71D230-ABDD-4640-94C4-87378037F183}"/>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C3556D27-1412-43E5-9396-C82D060BA55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4D4AF5B9-D9EA-475D-BEAD-36F5498C1DB3}"/>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5" name="Marcador de pie de página 4">
            <a:extLst>
              <a:ext uri="{FF2B5EF4-FFF2-40B4-BE49-F238E27FC236}">
                <a16:creationId xmlns:a16="http://schemas.microsoft.com/office/drawing/2014/main" id="{E04E1CF8-3DB1-4C58-80DB-5D2667CB0F12}"/>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5DFA9A0A-D532-4C31-9547-F8B45079DCB8}"/>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733346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D2EF77-063E-4B19-8DFF-DA68A27F1E8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62AE1BD-935E-41A9-A9B9-6E9295F634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7153197-25DA-4E5F-802F-EB6ADCA55209}"/>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5" name="Marcador de pie de página 4">
            <a:extLst>
              <a:ext uri="{FF2B5EF4-FFF2-40B4-BE49-F238E27FC236}">
                <a16:creationId xmlns:a16="http://schemas.microsoft.com/office/drawing/2014/main" id="{F0C14101-530A-437A-A00A-9899B8C7D75F}"/>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04B2F09-0DB7-4D0D-90B2-585D287563EE}"/>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3495357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0D3525-3AAC-4D05-8D94-869A93385491}"/>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E8598549-1EB6-41F4-9806-8A642CEA6B6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03A54DB6-15D7-4BC1-852F-B9874544E02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D0F132A1-CA49-4C3A-A74D-9FF8BEA7529B}"/>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6" name="Marcador de pie de página 5">
            <a:extLst>
              <a:ext uri="{FF2B5EF4-FFF2-40B4-BE49-F238E27FC236}">
                <a16:creationId xmlns:a16="http://schemas.microsoft.com/office/drawing/2014/main" id="{01DCB56F-A657-4BFE-A661-C9E940AD48B9}"/>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7A9A696C-587D-459A-AE2F-421927950D94}"/>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4133205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41975C-575C-4CA3-9760-E1BF5B9E386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0F9103FC-10FD-4520-9543-F12A32FC61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8C17C80-1DB6-48C0-A6ED-0BDB2E485AC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6D4A6C8B-D42B-4DB7-B337-CDF85F3D3E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21C2CD5-78AD-43A7-B7AA-07721078103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D1194964-046D-452F-907A-DCBAD170A992}"/>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8" name="Marcador de pie de página 7">
            <a:extLst>
              <a:ext uri="{FF2B5EF4-FFF2-40B4-BE49-F238E27FC236}">
                <a16:creationId xmlns:a16="http://schemas.microsoft.com/office/drawing/2014/main" id="{1B83BB36-A70A-43A9-A598-7650ED2AF403}"/>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BEFAAA56-D184-4F8D-A4FD-1581C3A09B5F}"/>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475101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99B46D-9C48-42C6-AF7A-A73800D5330B}"/>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5F38166F-28B6-451F-933D-A795BD138A28}"/>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4" name="Marcador de pie de página 3">
            <a:extLst>
              <a:ext uri="{FF2B5EF4-FFF2-40B4-BE49-F238E27FC236}">
                <a16:creationId xmlns:a16="http://schemas.microsoft.com/office/drawing/2014/main" id="{9CCEA545-8834-41EE-8C9F-909B814C7040}"/>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9ABC5D6B-0766-4AC4-8745-E88637D2E5C4}"/>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763591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96B04B0-A08A-4A8E-8A53-8AB7EA9A3181}"/>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3" name="Marcador de pie de página 2">
            <a:extLst>
              <a:ext uri="{FF2B5EF4-FFF2-40B4-BE49-F238E27FC236}">
                <a16:creationId xmlns:a16="http://schemas.microsoft.com/office/drawing/2014/main" id="{C5AA946B-99F1-4B1F-B384-FB0C235DE9A4}"/>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F0EACDB1-CCE2-49FD-9E00-3F0BF7ECB17A}"/>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1570827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507C57-EE28-4163-8C7F-7E4B58E191F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E2369D94-ECB0-4B11-AD59-01ECE6845D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7242E08A-962D-4DFA-AF60-64CB1321E4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AB5FF86-3520-4D4A-8E87-075085F879AD}"/>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6" name="Marcador de pie de página 5">
            <a:extLst>
              <a:ext uri="{FF2B5EF4-FFF2-40B4-BE49-F238E27FC236}">
                <a16:creationId xmlns:a16="http://schemas.microsoft.com/office/drawing/2014/main" id="{91871132-8BF6-4EF9-8431-C6982681F536}"/>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DD124F2B-6FD3-44A3-959F-40E594880A20}"/>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1083908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343EDE-2621-4E61-9AC4-815E89060AC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F9689D06-55F0-4D24-8C93-4F24AE9E28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C209C5D7-23F5-4CF1-A865-AAA7B0A1A6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099BD41-AC93-444F-A3F6-515C5484186F}"/>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6" name="Marcador de pie de página 5">
            <a:extLst>
              <a:ext uri="{FF2B5EF4-FFF2-40B4-BE49-F238E27FC236}">
                <a16:creationId xmlns:a16="http://schemas.microsoft.com/office/drawing/2014/main" id="{5D19B603-8D13-4F75-B1FD-A26F32E611CA}"/>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2C97A1C3-9771-4729-9B5E-4BBF9DDD1059}"/>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2494702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653DF8-64ED-4919-BF6E-15F592F96922}"/>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3BB071DA-B70A-4BCC-B6F0-F5D1FC1AB19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2F55DB7C-8CED-4B9C-BA78-5252C9CD0717}"/>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5" name="Marcador de pie de página 4">
            <a:extLst>
              <a:ext uri="{FF2B5EF4-FFF2-40B4-BE49-F238E27FC236}">
                <a16:creationId xmlns:a16="http://schemas.microsoft.com/office/drawing/2014/main" id="{B83ABEF4-C65A-4495-9DF3-D5DD47B7DD73}"/>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E4D0A52F-21CB-447A-A0DD-72436C774711}"/>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3440842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2F34B1-CC7B-4E1E-BA02-D0ADC553D86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7157D830-DF77-49C3-853B-9E5025DF9B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9477434-619C-48D6-94ED-53D6823B2BF3}"/>
              </a:ext>
            </a:extLst>
          </p:cNvPr>
          <p:cNvSpPr>
            <a:spLocks noGrp="1"/>
          </p:cNvSpPr>
          <p:nvPr>
            <p:ph type="dt" sz="half" idx="10"/>
          </p:nvPr>
        </p:nvSpPr>
        <p:spPr/>
        <p:txBody>
          <a:bodyPr/>
          <a:lstStyle/>
          <a:p>
            <a:fld id="{8BBCD7FF-8694-4818-A34B-AD2BAEEA9EA4}" type="datetimeFigureOut">
              <a:rPr lang="en-US" smtClean="0"/>
              <a:t>10/24/2026</a:t>
            </a:fld>
            <a:endParaRPr lang="en-US"/>
          </a:p>
        </p:txBody>
      </p:sp>
      <p:sp>
        <p:nvSpPr>
          <p:cNvPr id="5" name="Marcador de pie de página 4">
            <a:extLst>
              <a:ext uri="{FF2B5EF4-FFF2-40B4-BE49-F238E27FC236}">
                <a16:creationId xmlns:a16="http://schemas.microsoft.com/office/drawing/2014/main" id="{B1F3E34A-99F1-44FF-BFD0-F5CBECF9E45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57669C71-389A-4617-8922-5A1378492C26}"/>
              </a:ext>
            </a:extLst>
          </p:cNvPr>
          <p:cNvSpPr>
            <a:spLocks noGrp="1"/>
          </p:cNvSpPr>
          <p:nvPr>
            <p:ph type="sldNum" sz="quarter" idx="12"/>
          </p:nvPr>
        </p:nvSpPr>
        <p:spPr/>
        <p:txBody>
          <a:bodyPr/>
          <a:lstStyle/>
          <a:p>
            <a:fld id="{4AABE94B-C09D-4003-9445-E7DEAAF5BE03}" type="slidenum">
              <a:rPr lang="en-US" smtClean="0"/>
              <a:t>‹Nº›</a:t>
            </a:fld>
            <a:endParaRPr lang="en-US"/>
          </a:p>
        </p:txBody>
      </p:sp>
    </p:spTree>
    <p:extLst>
      <p:ext uri="{BB962C8B-B14F-4D97-AF65-F5344CB8AC3E}">
        <p14:creationId xmlns:p14="http://schemas.microsoft.com/office/powerpoint/2010/main" val="147942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4D81FCA-CA3B-48BB-AF34-5031227820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DB70A80D-D5E9-4BAC-8B73-6A814553EE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2112D5B7-D622-4255-BA33-3FDAE14C5D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BCD7FF-8694-4818-A34B-AD2BAEEA9EA4}" type="datetimeFigureOut">
              <a:rPr lang="en-US" smtClean="0"/>
              <a:t>10/24/2026</a:t>
            </a:fld>
            <a:endParaRPr lang="en-US"/>
          </a:p>
        </p:txBody>
      </p:sp>
      <p:sp>
        <p:nvSpPr>
          <p:cNvPr id="5" name="Marcador de pie de página 4">
            <a:extLst>
              <a:ext uri="{FF2B5EF4-FFF2-40B4-BE49-F238E27FC236}">
                <a16:creationId xmlns:a16="http://schemas.microsoft.com/office/drawing/2014/main" id="{06B94211-B772-437B-B070-B4FAFDDD49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E033D777-B08C-4820-B9E7-0A36C1EC60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BE94B-C09D-4003-9445-E7DEAAF5BE03}" type="slidenum">
              <a:rPr lang="en-US" smtClean="0"/>
              <a:t>‹Nº›</a:t>
            </a:fld>
            <a:endParaRPr lang="en-US"/>
          </a:p>
        </p:txBody>
      </p:sp>
    </p:spTree>
    <p:extLst>
      <p:ext uri="{BB962C8B-B14F-4D97-AF65-F5344CB8AC3E}">
        <p14:creationId xmlns:p14="http://schemas.microsoft.com/office/powerpoint/2010/main" val="1849560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www.postgresql.org/docs/?utm_source=chatgpt.com" TargetMode="External"/><Relationship Id="rId3" Type="http://schemas.openxmlformats.org/officeDocument/2006/relationships/hyperlink" Target="https://luc.devroye.org/books-luc.html?utm_source=chatgpt.com" TargetMode="External"/><Relationship Id="rId7" Type="http://schemas.openxmlformats.org/officeDocument/2006/relationships/hyperlink" Target="https://shiny.posit.co/r/?utm_source=chatgpt.com" TargetMode="External"/><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hyperlink" Target="https://www.r-project.org/?utm_source=chatgpt.com" TargetMode="External"/><Relationship Id="rId5" Type="http://schemas.openxmlformats.org/officeDocument/2006/relationships/hyperlink" Target="https://docs.python.org/3/?utm_source=chatgpt.com" TargetMode="External"/><Relationship Id="rId4" Type="http://schemas.openxmlformats.org/officeDocument/2006/relationships/hyperlink" Target="https://docs.oracle.com/en/java/?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B55A-9E1F-8D29-0DCB-C47BC4F389B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D959DC9C-D120-BB42-C76E-04D768E9B672}"/>
              </a:ext>
            </a:extLst>
          </p:cNvPr>
          <p:cNvPicPr>
            <a:picLocks noChangeAspect="1"/>
          </p:cNvPicPr>
          <p:nvPr/>
        </p:nvPicPr>
        <p:blipFill>
          <a:blip r:embed="rId2"/>
          <a:stretch>
            <a:fillRect/>
          </a:stretch>
        </p:blipFill>
        <p:spPr>
          <a:xfrm>
            <a:off x="-1" y="0"/>
            <a:ext cx="12192001" cy="6883502"/>
          </a:xfrm>
          <a:prstGeom prst="rect">
            <a:avLst/>
          </a:prstGeom>
        </p:spPr>
      </p:pic>
      <p:sp>
        <p:nvSpPr>
          <p:cNvPr id="10" name="CuadroTexto 9">
            <a:extLst>
              <a:ext uri="{FF2B5EF4-FFF2-40B4-BE49-F238E27FC236}">
                <a16:creationId xmlns:a16="http://schemas.microsoft.com/office/drawing/2014/main" id="{FEAF6B11-374C-1FAD-7A54-8CF665967FFB}"/>
              </a:ext>
            </a:extLst>
          </p:cNvPr>
          <p:cNvSpPr txBox="1"/>
          <p:nvPr/>
        </p:nvSpPr>
        <p:spPr>
          <a:xfrm>
            <a:off x="1624007" y="1551303"/>
            <a:ext cx="8438293" cy="5094985"/>
          </a:xfrm>
          <a:prstGeom prst="rect">
            <a:avLst/>
          </a:prstGeom>
          <a:noFill/>
        </p:spPr>
        <p:txBody>
          <a:bodyPr wrap="square">
            <a:spAutoFit/>
          </a:bodyPr>
          <a:lstStyle/>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TECNOLOGICO NACIONAL DE MEXICO</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INSTITUTO TECNOLOGICO DE FRONTERA COMALAPA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CARRERA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INGENIERIA EN SISTEMAS COMPUTACIONALES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MATERIA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SIMULACIÓN</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TRABAJO</a:t>
            </a:r>
          </a:p>
          <a:p>
            <a:pPr algn="ctr">
              <a:lnSpc>
                <a:spcPct val="107000"/>
              </a:lnSpc>
              <a:spcAft>
                <a:spcPts val="800"/>
              </a:spcAft>
              <a:buNone/>
            </a:pPr>
            <a:r>
              <a:rPr lang="es-MX" sz="1400" dirty="0">
                <a:latin typeface="Calibri" panose="020F0502020204030204" pitchFamily="34" charset="0"/>
                <a:ea typeface="Calibri" panose="020F0502020204030204" pitchFamily="34" charset="0"/>
                <a:cs typeface="Times New Roman" panose="02020603050405020304" pitchFamily="18" charset="0"/>
              </a:rPr>
              <a:t>ACTIVIDAD 3.3 BANCO DE EJERCICIOS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CATEDRATICO</a:t>
            </a:r>
          </a:p>
          <a:p>
            <a:pPr algn="ctr">
              <a:lnSpc>
                <a:spcPct val="107000"/>
              </a:lnSpc>
              <a:spcAft>
                <a:spcPts val="800"/>
              </a:spcAft>
            </a:pPr>
            <a:r>
              <a:rPr lang="es-ES" altLang="es-MX" sz="1400" dirty="0">
                <a:latin typeface="Calibri" panose="020F0502020204030204" pitchFamily="34" charset="0"/>
                <a:ea typeface="Calibri" panose="020F0502020204030204" pitchFamily="34" charset="0"/>
                <a:cs typeface="Calibri" panose="020F0502020204030204" pitchFamily="34" charset="0"/>
              </a:rPr>
              <a:t>ING. FRANCISCO JAVIER MINGO VELAZQUEZ </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ESTUDIANTE </a:t>
            </a:r>
          </a:p>
          <a:p>
            <a:pPr lvl="0" algn="ctr" defTabSz="914400" eaLnBrk="0" fontAlgn="base" hangingPunct="0">
              <a:spcBef>
                <a:spcPct val="0"/>
              </a:spcBef>
              <a:spcAft>
                <a:spcPct val="0"/>
              </a:spcAft>
            </a:pPr>
            <a:r>
              <a:rPr lang="es-MX" altLang="es-MX" sz="1400" dirty="0">
                <a:latin typeface="Calibri" panose="020F0502020204030204" pitchFamily="34" charset="0"/>
                <a:ea typeface="Calibri" panose="020F0502020204030204" pitchFamily="34" charset="0"/>
                <a:cs typeface="Calibri" panose="020F0502020204030204" pitchFamily="34" charset="0"/>
              </a:rPr>
              <a:t>AMILCAR AEJANDRO CORONA ESCOBAR - 2412600074</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SEMESTRE </a:t>
            </a:r>
            <a:r>
              <a:rPr lang="es-MX" sz="1100" b="1" dirty="0">
                <a:effectLst/>
                <a:latin typeface="Calibri" panose="020F0502020204030204" pitchFamily="34" charset="0"/>
                <a:ea typeface="Calibri" panose="020F0502020204030204" pitchFamily="34" charset="0"/>
                <a:cs typeface="Times New Roman" panose="02020603050405020304" pitchFamily="18" charset="0"/>
              </a:rPr>
              <a:t>:</a:t>
            </a:r>
            <a:r>
              <a:rPr lang="es-MX" sz="1100" b="1" dirty="0">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buNone/>
            </a:pPr>
            <a:r>
              <a:rPr lang="es-MX" sz="1100" b="1" dirty="0">
                <a:effectLst/>
                <a:latin typeface="Calibri" panose="020F0502020204030204" pitchFamily="34" charset="0"/>
                <a:ea typeface="Calibri" panose="020F0502020204030204" pitchFamily="34" charset="0"/>
                <a:cs typeface="Times New Roman" panose="02020603050405020304" pitchFamily="18" charset="0"/>
              </a:rPr>
              <a:t>5</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400" b="1" dirty="0">
                <a:effectLst/>
                <a:latin typeface="Calibri" panose="020F0502020204030204" pitchFamily="34" charset="0"/>
                <a:ea typeface="Calibri" panose="020F0502020204030204" pitchFamily="34" charset="0"/>
                <a:cs typeface="Times New Roman" panose="02020603050405020304" pitchFamily="18" charset="0"/>
              </a:rPr>
              <a:t>FRONTERA COMALAPA FECHA DE ENTREGA:</a:t>
            </a:r>
            <a:r>
              <a:rPr lang="es-MX" sz="1100" b="1" dirty="0">
                <a:effectLst/>
                <a:latin typeface="Calibri" panose="020F0502020204030204" pitchFamily="34" charset="0"/>
                <a:ea typeface="Calibri" panose="020F0502020204030204" pitchFamily="34" charset="0"/>
                <a:cs typeface="Times New Roman" panose="02020603050405020304" pitchFamily="18" charset="0"/>
              </a:rPr>
              <a:t> </a:t>
            </a:r>
            <a:r>
              <a:rPr lang="es-ES" sz="1100" b="1" dirty="0">
                <a:effectLst/>
                <a:latin typeface="Arial" panose="020B0604020202020204" pitchFamily="34" charset="0"/>
                <a:ea typeface="Calibri" panose="020F0502020204030204" pitchFamily="34" charset="0"/>
                <a:cs typeface="Arial" panose="020B0604020202020204" pitchFamily="34" charset="0"/>
              </a:rPr>
              <a:t>23 DE </a:t>
            </a:r>
            <a:r>
              <a:rPr lang="es-ES" sz="1100" b="1" dirty="0">
                <a:latin typeface="Arial" panose="020B0604020202020204" pitchFamily="34" charset="0"/>
                <a:ea typeface="Calibri" panose="020F0502020204030204" pitchFamily="34" charset="0"/>
                <a:cs typeface="Arial" panose="020B0604020202020204" pitchFamily="34" charset="0"/>
              </a:rPr>
              <a:t>OCTUBRE</a:t>
            </a:r>
            <a:r>
              <a:rPr lang="es-ES" sz="1100" b="1" dirty="0">
                <a:effectLst/>
                <a:latin typeface="Arial" panose="020B0604020202020204" pitchFamily="34" charset="0"/>
                <a:ea typeface="Calibri" panose="020F0502020204030204" pitchFamily="34" charset="0"/>
                <a:cs typeface="Arial" panose="020B0604020202020204" pitchFamily="34" charset="0"/>
              </a:rPr>
              <a:t> DEL 2026</a:t>
            </a:r>
            <a:endParaRPr lang="es-MX" altLang="es-MX" sz="1100" dirty="0">
              <a:latin typeface="Arial" panose="020B0604020202020204" pitchFamily="34" charset="0"/>
              <a:cs typeface="Arial" panose="020B0604020202020204" pitchFamily="34" charset="0"/>
            </a:endParaRPr>
          </a:p>
          <a:p>
            <a:pPr algn="ctr">
              <a:lnSpc>
                <a:spcPct val="107000"/>
              </a:lnSpc>
              <a:spcAft>
                <a:spcPts val="800"/>
              </a:spcAft>
              <a:buNone/>
            </a:pP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magen 11" descr="Secretaría de Educación Pública | Secretaría de Educación ...">
            <a:extLst>
              <a:ext uri="{FF2B5EF4-FFF2-40B4-BE49-F238E27FC236}">
                <a16:creationId xmlns:a16="http://schemas.microsoft.com/office/drawing/2014/main" id="{EFECA14D-D8FE-EF74-7C06-2DF34B28693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692" b="89868" l="2338" r="96104">
                        <a14:foregroundMark x1="12208" y1="37885" x2="48312" y2="32599"/>
                        <a14:foregroundMark x1="48312" y1="32599" x2="29610" y2="48018"/>
                        <a14:foregroundMark x1="29610" y1="48018" x2="56364" y2="33480"/>
                        <a14:foregroundMark x1="56364" y1="33480" x2="83896" y2="40529"/>
                        <a14:foregroundMark x1="83896" y1="40529" x2="62078" y2="33480"/>
                        <a14:foregroundMark x1="62078" y1="33480" x2="40779" y2="49339"/>
                        <a14:foregroundMark x1="40779" y1="49339" x2="18961" y2="51542"/>
                        <a14:foregroundMark x1="18961" y1="51542" x2="73506" y2="18943"/>
                        <a14:foregroundMark x1="73506" y1="18943" x2="52987" y2="56828"/>
                        <a14:foregroundMark x1="52987" y1="56828" x2="78701" y2="30837"/>
                        <a14:foregroundMark x1="78701" y1="30837" x2="77662" y2="65198"/>
                        <a14:foregroundMark x1="8571" y1="57269" x2="4675" y2="58590"/>
                        <a14:foregroundMark x1="7532" y1="44493" x2="30390" y2="64317"/>
                        <a14:foregroundMark x1="30390" y1="64317" x2="25195" y2="78855"/>
                        <a14:foregroundMark x1="16883" y1="77093" x2="19740" y2="83700"/>
                        <a14:foregroundMark x1="11948" y1="72687" x2="12727" y2="77093"/>
                        <a14:foregroundMark x1="7532" y1="63877" x2="7532" y2="65198"/>
                        <a14:foregroundMark x1="7532" y1="65198" x2="7532" y2="65198"/>
                        <a14:foregroundMark x1="7532" y1="65198" x2="7532" y2="65198"/>
                        <a14:foregroundMark x1="7532" y1="65198" x2="7532" y2="65198"/>
                        <a14:foregroundMark x1="7532" y1="65198" x2="7532" y2="65198"/>
                        <a14:foregroundMark x1="7532" y1="65198" x2="2597" y2="55507"/>
                        <a14:foregroundMark x1="6753" y1="43612" x2="8052" y2="37885"/>
                        <a14:foregroundMark x1="12727" y1="30396" x2="10130" y2="37004"/>
                        <a14:foregroundMark x1="16364" y1="37004" x2="23117" y2="30396"/>
                        <a14:foregroundMark x1="37662" y1="64758" x2="44156" y2="65198"/>
                        <a14:foregroundMark x1="58961" y1="65198" x2="70390" y2="65198"/>
                        <a14:foregroundMark x1="58961" y1="62115" x2="48052" y2="65198"/>
                        <a14:foregroundMark x1="73247" y1="67841" x2="80519" y2="66079"/>
                        <a14:foregroundMark x1="83377" y1="54626" x2="94026" y2="52863"/>
                        <a14:foregroundMark x1="94545" y1="46256" x2="82338" y2="51101"/>
                        <a14:foregroundMark x1="82597" y1="40529" x2="94545" y2="47137"/>
                        <a14:foregroundMark x1="94805" y1="41410" x2="96104" y2="56388"/>
                        <a14:foregroundMark x1="93247" y1="41410" x2="91429" y2="43172"/>
                        <a14:foregroundMark x1="93506" y1="43172" x2="84675" y2="39648"/>
                        <a14:foregroundMark x1="88831" y1="39648" x2="89351" y2="36123"/>
                        <a14:foregroundMark x1="94805" y1="36123" x2="91169" y2="44493"/>
                        <a14:foregroundMark x1="95584" y1="51101" x2="95584" y2="40529"/>
                        <a14:foregroundMark x1="91169" y1="30396" x2="82597" y2="40529"/>
                      </a14:backgroundRemoval>
                    </a14:imgEffect>
                  </a14:imgLayer>
                </a14:imgProps>
              </a:ext>
              <a:ext uri="{28A0092B-C50C-407E-A947-70E740481C1C}">
                <a14:useLocalDpi xmlns:a14="http://schemas.microsoft.com/office/drawing/2010/main" val="0"/>
              </a:ext>
            </a:extLst>
          </a:blip>
          <a:srcRect/>
          <a:stretch>
            <a:fillRect/>
          </a:stretch>
        </p:blipFill>
        <p:spPr bwMode="auto">
          <a:xfrm>
            <a:off x="891096" y="519736"/>
            <a:ext cx="2667391" cy="1352480"/>
          </a:xfrm>
          <a:prstGeom prst="rect">
            <a:avLst/>
          </a:prstGeom>
          <a:noFill/>
          <a:ln>
            <a:noFill/>
          </a:ln>
        </p:spPr>
      </p:pic>
      <p:pic>
        <p:nvPicPr>
          <p:cNvPr id="14" name="Imagen 13" descr="Logos Oficiales – Tecnológico Nacional de México">
            <a:extLst>
              <a:ext uri="{FF2B5EF4-FFF2-40B4-BE49-F238E27FC236}">
                <a16:creationId xmlns:a16="http://schemas.microsoft.com/office/drawing/2014/main" id="{95213785-F39B-A169-C99D-1172B99500C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32440" y="618059"/>
            <a:ext cx="2055088" cy="970177"/>
          </a:xfrm>
          <a:prstGeom prst="rect">
            <a:avLst/>
          </a:prstGeom>
          <a:noFill/>
          <a:ln>
            <a:noFill/>
          </a:ln>
        </p:spPr>
      </p:pic>
      <p:pic>
        <p:nvPicPr>
          <p:cNvPr id="16" name="Imagen 15" descr="TecNM | Tecnológico Nacional de México">
            <a:extLst>
              <a:ext uri="{FF2B5EF4-FFF2-40B4-BE49-F238E27FC236}">
                <a16:creationId xmlns:a16="http://schemas.microsoft.com/office/drawing/2014/main" id="{EB3A2178-9F41-48BC-3E38-CA8D606F8C26}"/>
              </a:ext>
            </a:extLst>
          </p:cNvPr>
          <p:cNvPicPr>
            <a:picLocks noChangeAspect="1"/>
          </p:cNvPicPr>
          <p:nvPr/>
        </p:nvPicPr>
        <p:blipFill>
          <a:blip r:embed="rId6">
            <a:extLst>
              <a:ext uri="{28A0092B-C50C-407E-A947-70E740481C1C}">
                <a14:useLocalDpi xmlns:a14="http://schemas.microsoft.com/office/drawing/2010/main" val="0"/>
              </a:ext>
            </a:extLst>
          </a:blip>
          <a:srcRect b="9635"/>
          <a:stretch>
            <a:fillRect/>
          </a:stretch>
        </p:blipFill>
        <p:spPr bwMode="auto">
          <a:xfrm>
            <a:off x="9085797" y="735091"/>
            <a:ext cx="1953006" cy="1127293"/>
          </a:xfrm>
          <a:prstGeom prst="rect">
            <a:avLst/>
          </a:prstGeom>
          <a:noFill/>
          <a:ln>
            <a:noFill/>
          </a:ln>
        </p:spPr>
      </p:pic>
    </p:spTree>
    <p:extLst>
      <p:ext uri="{BB962C8B-B14F-4D97-AF65-F5344CB8AC3E}">
        <p14:creationId xmlns:p14="http://schemas.microsoft.com/office/powerpoint/2010/main" val="283541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17885CB-970F-4310-8744-8C1F4B4D676B}"/>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normAutofit/>
          </a:bodyPr>
          <a:lstStyle/>
          <a:p>
            <a:pPr algn="ctr"/>
            <a:r>
              <a:rPr lang="en-US" b="1" dirty="0"/>
              <a:t>INTRODUCCIÓN</a:t>
            </a:r>
          </a:p>
        </p:txBody>
      </p:sp>
      <p:sp>
        <p:nvSpPr>
          <p:cNvPr id="9" name="Marcador de contenido 8">
            <a:extLst>
              <a:ext uri="{FF2B5EF4-FFF2-40B4-BE49-F238E27FC236}">
                <a16:creationId xmlns:a16="http://schemas.microsoft.com/office/drawing/2014/main" id="{01ED3E7C-7BBD-4824-A5E1-2F45160020E4}"/>
              </a:ext>
            </a:extLst>
          </p:cNvPr>
          <p:cNvSpPr>
            <a:spLocks noGrp="1"/>
          </p:cNvSpPr>
          <p:nvPr>
            <p:ph idx="1"/>
          </p:nvPr>
        </p:nvSpPr>
        <p:spPr/>
        <p:txBody>
          <a:bodyPr>
            <a:normAutofit lnSpcReduction="10000"/>
          </a:bodyPr>
          <a:lstStyle/>
          <a:p>
            <a:pPr marL="0" indent="0" algn="just">
              <a:buNone/>
            </a:pPr>
            <a:r>
              <a:rPr lang="es-MX" dirty="0"/>
              <a:t>La generación de variables aleatorias es una herramienta importante dentro de la simulación, ya que permite representar diferentes situaciones mediante métodos matemáticos y computacionales. Para comprender mejor su funcionamiento, es necesario realizar ejercicios prácticos que permitan observar cómo se comportan los valores generados en distintos programas.</a:t>
            </a:r>
          </a:p>
          <a:p>
            <a:pPr marL="0" indent="0" algn="just">
              <a:buNone/>
            </a:pPr>
            <a:r>
              <a:rPr lang="es-MX" dirty="0"/>
              <a:t>En este banco de ejercicios se realizarán 15 ejecuciones utilizando tres programas desarrollados en Java, Python y </a:t>
            </a:r>
            <a:r>
              <a:rPr lang="es-MX" dirty="0" err="1"/>
              <a:t>RStudio</a:t>
            </a:r>
            <a:r>
              <a:rPr lang="es-MX" dirty="0"/>
              <a:t>. Cada uno contará con cinco ejercicios en los que se aplicarán los métodos de transformada inversa, convolución y composición. Además, se utilizará PostgreSQL para almacenar y consultar la información generada, permitiendo observar los registros de cada simulación.</a:t>
            </a:r>
          </a:p>
          <a:p>
            <a:pPr marL="0" indent="0" algn="just">
              <a:buNone/>
            </a:pPr>
            <a:endParaRPr lang="en-US" dirty="0"/>
          </a:p>
        </p:txBody>
      </p:sp>
    </p:spTree>
    <p:extLst>
      <p:ext uri="{BB962C8B-B14F-4D97-AF65-F5344CB8AC3E}">
        <p14:creationId xmlns:p14="http://schemas.microsoft.com/office/powerpoint/2010/main" val="1355463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17885CB-970F-4310-8744-8C1F4B4D676B}"/>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normAutofit/>
          </a:bodyPr>
          <a:lstStyle/>
          <a:p>
            <a:pPr algn="ctr"/>
            <a:r>
              <a:rPr lang="en-US" b="1" dirty="0"/>
              <a:t>JUSTIFICACIÓN</a:t>
            </a:r>
          </a:p>
        </p:txBody>
      </p:sp>
      <p:sp>
        <p:nvSpPr>
          <p:cNvPr id="9" name="Marcador de contenido 8">
            <a:extLst>
              <a:ext uri="{FF2B5EF4-FFF2-40B4-BE49-F238E27FC236}">
                <a16:creationId xmlns:a16="http://schemas.microsoft.com/office/drawing/2014/main" id="{01ED3E7C-7BBD-4824-A5E1-2F45160020E4}"/>
              </a:ext>
            </a:extLst>
          </p:cNvPr>
          <p:cNvSpPr>
            <a:spLocks noGrp="1"/>
          </p:cNvSpPr>
          <p:nvPr>
            <p:ph idx="1"/>
          </p:nvPr>
        </p:nvSpPr>
        <p:spPr/>
        <p:txBody>
          <a:bodyPr>
            <a:normAutofit/>
          </a:bodyPr>
          <a:lstStyle/>
          <a:p>
            <a:pPr marL="0" indent="0" algn="just">
              <a:buNone/>
            </a:pPr>
            <a:r>
              <a:rPr lang="es-MX" dirty="0"/>
              <a:t>La realización de este banco de ejercicios tiene como finalidad reforzar los conocimientos adquiridos sobre los métodos de generación de variables aleatorias mediante la ejecución de programas desarrollados en diferentes lenguajes de programación.</a:t>
            </a:r>
          </a:p>
          <a:p>
            <a:pPr marL="0" indent="0" algn="just">
              <a:buNone/>
            </a:pPr>
            <a:r>
              <a:rPr lang="es-MX" dirty="0"/>
              <a:t>A través de los ejercicios podremos observar cómo cambian los resultados de cada simulación al utilizar distintos métodos. También podremos comprobar cómo se almacena la información en las bases de datos PostgreSQL, relacionando los conocimientos de simulación, programación y manejo de bases de datos.</a:t>
            </a:r>
          </a:p>
          <a:p>
            <a:pPr marL="0" indent="0" algn="just">
              <a:buNone/>
            </a:pPr>
            <a:endParaRPr lang="en-US" dirty="0"/>
          </a:p>
        </p:txBody>
      </p:sp>
    </p:spTree>
    <p:extLst>
      <p:ext uri="{BB962C8B-B14F-4D97-AF65-F5344CB8AC3E}">
        <p14:creationId xmlns:p14="http://schemas.microsoft.com/office/powerpoint/2010/main" val="2457534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17885CB-970F-4310-8744-8C1F4B4D676B}"/>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a:xfrm>
            <a:off x="838200" y="2766218"/>
            <a:ext cx="10515600" cy="1325563"/>
          </a:xfrm>
        </p:spPr>
        <p:txBody>
          <a:bodyPr>
            <a:normAutofit/>
          </a:bodyPr>
          <a:lstStyle/>
          <a:p>
            <a:pPr algn="ctr"/>
            <a:r>
              <a:rPr lang="es-MX" b="1" dirty="0"/>
              <a:t>Implementación del método de la transformada inversa usando Java</a:t>
            </a:r>
            <a:endParaRPr lang="en-US" b="1" dirty="0"/>
          </a:p>
        </p:txBody>
      </p:sp>
    </p:spTree>
    <p:extLst>
      <p:ext uri="{BB962C8B-B14F-4D97-AF65-F5344CB8AC3E}">
        <p14:creationId xmlns:p14="http://schemas.microsoft.com/office/powerpoint/2010/main" val="4181332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la </a:t>
            </a:r>
            <a:r>
              <a:rPr lang="en-US" b="1" dirty="0" err="1"/>
              <a:t>transformada</a:t>
            </a:r>
            <a:r>
              <a:rPr lang="en-US" b="1" dirty="0"/>
              <a:t> </a:t>
            </a:r>
            <a:r>
              <a:rPr lang="en-US" b="1" dirty="0" err="1"/>
              <a:t>inversa</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201" y="2321426"/>
            <a:ext cx="5430291" cy="3053653"/>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primera simulación se utilizó el método de la transformada inversa con 23 clientes y 4 cajeros. Se obtuvo un tiempo promedio de espera de 0.02 minutos, un tiempo promedio de atención de 2.71 minutos y un tiempo total de 49.93 minutos. Los resultados muestran que la mayoría de los clientes fueron atendidos con poca espera.</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3311648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a:t>
            </a:r>
            <a:r>
              <a:rPr lang="en-US" b="1" dirty="0" err="1"/>
              <a:t>convolución</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88" y="2321426"/>
            <a:ext cx="5428716" cy="3053653"/>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416320"/>
          </a:xfrm>
          <a:prstGeom prst="rect">
            <a:avLst/>
          </a:prstGeom>
          <a:noFill/>
        </p:spPr>
        <p:txBody>
          <a:bodyPr wrap="square" rtlCol="0">
            <a:spAutoFit/>
          </a:bodyPr>
          <a:lstStyle/>
          <a:p>
            <a:pPr algn="just"/>
            <a:r>
              <a:rPr lang="es-MX" dirty="0"/>
              <a:t>En esta segunda simulación se utilizó el método de convolución con 25 clientes y 2 cajeros. Se obtuvo un tiempo promedio de espera de 5.75 minutos, un tiempo promedio de atención de 3.95 minutos y un tiempo total de 55.78 minutos. Los resultados muestran que se generaron mayores tiempos de espera debido a la cantidad de clientes y la disponibilidad de cajeros.</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868672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a:t>
            </a:r>
            <a:r>
              <a:rPr lang="en-US" b="1" dirty="0" err="1"/>
              <a:t>composición</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88" y="2321869"/>
            <a:ext cx="5428716" cy="3052767"/>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416320"/>
          </a:xfrm>
          <a:prstGeom prst="rect">
            <a:avLst/>
          </a:prstGeom>
          <a:noFill/>
        </p:spPr>
        <p:txBody>
          <a:bodyPr wrap="square" rtlCol="0">
            <a:spAutoFit/>
          </a:bodyPr>
          <a:lstStyle/>
          <a:p>
            <a:pPr algn="just"/>
            <a:r>
              <a:rPr lang="es-MX" dirty="0"/>
              <a:t>En esta tercera simulación se utilizó el método de composición con 20 clientes y un solo cajero. Se obtuvo un tiempo promedio de espera de 34.17 minutos, un tiempo promedio de atención de 5.30 minutos y un tiempo total de 110 minutos. Los resultados muestran un aumento considerable en los tiempos de espera, debido a que solamente había un cajero disponible y algunas atenciones fueron más prolongadas.</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1311260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la </a:t>
            </a:r>
            <a:r>
              <a:rPr lang="en-US" b="1" dirty="0" err="1"/>
              <a:t>transformada</a:t>
            </a:r>
            <a:r>
              <a:rPr lang="en-US" b="1" dirty="0"/>
              <a:t> </a:t>
            </a:r>
            <a:r>
              <a:rPr lang="en-US" b="1" dirty="0" err="1"/>
              <a:t>inversa</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5617" y="2321426"/>
            <a:ext cx="5427457" cy="3053653"/>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cuarta simulación se utilizó nuevamente el método de la transformada inversa, trabajando con 30 clientes y 5 cajeros. Se obtuvo un tiempo promedio de espera de 0.00 minutos, un tiempo promedio de atención de 3.95 minutos y un tiempo total de 68.03 minutos. Los resultados muestran que los clientes pudieron ser atendidos sin generar tiempos de espera.</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3370760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a:t>
            </a:r>
            <a:r>
              <a:rPr lang="en-US" b="1" dirty="0" err="1"/>
              <a:t>convolución</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88" y="2321869"/>
            <a:ext cx="5428716" cy="3052767"/>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quinta simulación se utilizó nuevamente el método de convolución, trabajando con 40 clientes y 5 cajeros. Se obtuvo un tiempo promedio de espera de 0.00 minutos, un tiempo promedio de atención de 4.50 minutos y un tiempo total de 105.69 minutos. Los resultados muestran que los cajeros lograron atender a los clientes sin generar tiempos de espera.</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2015998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Registro de las simulaciones en PostgreSQL</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89" y="2321869"/>
            <a:ext cx="5428714" cy="3052767"/>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parte se muestra el historial de las cinco simulaciones realizadas, almacenadas en PostgreSQL con los identificadores del 37 al 41. Se pueden observar los métodos utilizados, la cantidad de clientes, los cajeros disponibles y los tiempos promedio de espera. Esto permite comprobar que los resultados se guardaron correctamente en la base de datos.</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4201058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17885CB-970F-4310-8744-8C1F4B4D676B}"/>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a:xfrm>
            <a:off x="838200" y="2766218"/>
            <a:ext cx="10515600" cy="1325563"/>
          </a:xfrm>
        </p:spPr>
        <p:txBody>
          <a:bodyPr>
            <a:normAutofit/>
          </a:bodyPr>
          <a:lstStyle/>
          <a:p>
            <a:pPr algn="ctr"/>
            <a:r>
              <a:rPr lang="es-MX" b="1" dirty="0"/>
              <a:t>Ejercicios del simulador de entregas en Python</a:t>
            </a:r>
            <a:endParaRPr lang="en-US" b="1" dirty="0"/>
          </a:p>
        </p:txBody>
      </p:sp>
    </p:spTree>
    <p:extLst>
      <p:ext uri="{BB962C8B-B14F-4D97-AF65-F5344CB8AC3E}">
        <p14:creationId xmlns:p14="http://schemas.microsoft.com/office/powerpoint/2010/main" val="2742125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la </a:t>
            </a:r>
            <a:r>
              <a:rPr lang="en-US" b="1" dirty="0" err="1"/>
              <a:t>transformada</a:t>
            </a:r>
            <a:r>
              <a:rPr lang="en-US" b="1" dirty="0"/>
              <a:t> </a:t>
            </a:r>
            <a:r>
              <a:rPr lang="en-US" b="1" dirty="0" err="1"/>
              <a:t>inversa</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89" y="2394740"/>
            <a:ext cx="5428714" cy="2907025"/>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parte se muestra el historial de las cinco simulaciones realizadas, almacenadas en PostgreSQL con los identificadores del 37 al 41. Se pueden observar los métodos utilizados, la cantidad de clientes, los cajeros disponibles y los tiempos promedio de espera. Esto permite comprobar que los resultados se guardaron correctamente en la base de datos.</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86818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a:t>
            </a:r>
            <a:r>
              <a:rPr lang="en-US" b="1" dirty="0" err="1"/>
              <a:t>convolución</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89" y="2321869"/>
            <a:ext cx="5428714"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segunda simulación se utilizó el método de convolución, generando un total de 200 pedidos. Se obtuvo un tiempo promedio de entrega de 52.28 minutos y un tiempo máximo de 105.78 minutos. Los resultados muestran cómo se generan diferentes tiempos de preparación y transporte mediante la combinación de variables aleatorias.</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4142592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a:t>
            </a:r>
            <a:r>
              <a:rPr lang="en-US" b="1" dirty="0" err="1"/>
              <a:t>composición</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89" y="2321869"/>
            <a:ext cx="5428714"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tercera simulación se utilizó el método de composición, generando un total de 50 pedidos. Se obtuvo un tiempo promedio de entrega de 49.47 minutos y un tiempo máximo de 130.17 minutos. Los resultados muestran cómo varían los tiempos de preparación y transporte al combinar diferentes distribuciones de probabilidad.</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2406210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la </a:t>
            </a:r>
            <a:r>
              <a:rPr lang="en-US" b="1" dirty="0" err="1"/>
              <a:t>transformada</a:t>
            </a:r>
            <a:r>
              <a:rPr lang="en-US" b="1" dirty="0"/>
              <a:t> </a:t>
            </a:r>
            <a:r>
              <a:rPr lang="en-US" b="1" dirty="0" err="1"/>
              <a:t>inversa</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89" y="2321869"/>
            <a:ext cx="5428714"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cuarta simulación se utilizó nuevamente el método de la transformada inversa, generando un total de 500 pedidos. Se obtuvo un tiempo promedio de entrega de 54.92 minutos y un tiempo máximo de 170.89 minutos. Los resultados muestran cómo varían los tiempos de preparación y transporte al simular una mayor cantidad de pedidos.</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2866080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a:t>
            </a:r>
            <a:r>
              <a:rPr lang="en-US" b="1" dirty="0" err="1"/>
              <a:t>convolución</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89" y="2321869"/>
            <a:ext cx="5428714"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quinta simulación se utilizó nuevamente el método de convolución, generando un total de 400 pedidos. Se obtuvo un tiempo promedio de entrega de 53.96 minutos y un tiempo máximo de 110.03 minutos. Los resultados muestran cómo varían los tiempos de preparación y transporte de los paquetes mediante la combinación de variables aleatorias.</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115622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Registro de las simulaciones en PostgreSQL</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89" y="2321869"/>
            <a:ext cx="5428714"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parte se muestra el historial de las cinco simulaciones realizadas en Python, almacenadas en PostgreSQL con los identificadores del 6 al 10. Se pueden observar los métodos utilizados, la cantidad de pedidos, los tiempos promedio de entrega y las fechas de registro, comprobando que la información se guardó correctamente en la base de datos.</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2896278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17885CB-970F-4310-8744-8C1F4B4D676B}"/>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a:xfrm>
            <a:off x="838200" y="2766218"/>
            <a:ext cx="10515600" cy="1325563"/>
          </a:xfrm>
        </p:spPr>
        <p:txBody>
          <a:bodyPr>
            <a:normAutofit/>
          </a:bodyPr>
          <a:lstStyle/>
          <a:p>
            <a:pPr algn="ctr"/>
            <a:r>
              <a:rPr lang="es-MX" b="1" dirty="0"/>
              <a:t>Ejercicios del simulador de tráfico vehicular en </a:t>
            </a:r>
            <a:r>
              <a:rPr lang="es-MX" b="1" dirty="0" err="1"/>
              <a:t>RStudio</a:t>
            </a:r>
            <a:endParaRPr lang="en-US" b="1" dirty="0"/>
          </a:p>
        </p:txBody>
      </p:sp>
    </p:spTree>
    <p:extLst>
      <p:ext uri="{BB962C8B-B14F-4D97-AF65-F5344CB8AC3E}">
        <p14:creationId xmlns:p14="http://schemas.microsoft.com/office/powerpoint/2010/main" val="486121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la </a:t>
            </a:r>
            <a:r>
              <a:rPr lang="en-US" b="1" dirty="0" err="1"/>
              <a:t>transformada</a:t>
            </a:r>
            <a:r>
              <a:rPr lang="en-US" b="1" dirty="0"/>
              <a:t> </a:t>
            </a:r>
            <a:r>
              <a:rPr lang="en-US" b="1" dirty="0" err="1"/>
              <a:t>inversa</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90" y="2321869"/>
            <a:ext cx="5428712"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416320"/>
          </a:xfrm>
          <a:prstGeom prst="rect">
            <a:avLst/>
          </a:prstGeom>
          <a:noFill/>
        </p:spPr>
        <p:txBody>
          <a:bodyPr wrap="square" rtlCol="0">
            <a:spAutoFit/>
          </a:bodyPr>
          <a:lstStyle/>
          <a:p>
            <a:pPr algn="just"/>
            <a:r>
              <a:rPr lang="es-MX" dirty="0"/>
              <a:t>En esta primera simulación se utilizó el método de la transformada inversa, trabajando con 50 vehículos y un semáforo configurado con diferentes tiempos de cambio. Se obtuvo un tiempo promedio de espera de 109.98 segundos y un tiempo total de 524.05 segundos. Los resultados muestran cómo se generan diferentes tiempos de llegada y espera de los vehículos durante la simulación.</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309907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a:t>
            </a:r>
            <a:r>
              <a:rPr lang="en-US" b="1" dirty="0" err="1"/>
              <a:t>convolución</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90" y="2321869"/>
            <a:ext cx="5428712"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segunda simulación se utilizó el método de convolución, trabajando con 100 vehículos. Se obtuvo un tiempo promedio de espera de 561.78 segundos y un tiempo total de 1751.94 segundos. Los resultados muestran un aumento considerable en los tiempos de espera, que pudo estar relacionado con la cantidad de vehículos y la configuración del semáforo.</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3913018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a:t>
            </a:r>
            <a:r>
              <a:rPr lang="en-US" b="1" dirty="0" err="1"/>
              <a:t>composición</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90" y="2321869"/>
            <a:ext cx="5428712"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tercera simulación se utilizó el método de composición, trabajando con 200 vehículos. Se obtuvo un tiempo promedio de espera de 96.57 segundos y un tiempo total de 1608.26 segundos. Los resultados muestran cómo varían los tiempos de llegada y espera de los vehículos mediante la combinación de diferentes distribuciones de probabilidad.</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2831589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la </a:t>
            </a:r>
            <a:r>
              <a:rPr lang="en-US" b="1" dirty="0" err="1"/>
              <a:t>transformada</a:t>
            </a:r>
            <a:r>
              <a:rPr lang="en-US" b="1" dirty="0"/>
              <a:t> </a:t>
            </a:r>
            <a:r>
              <a:rPr lang="en-US" b="1" dirty="0" err="1"/>
              <a:t>inversa</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0973" y="2321869"/>
            <a:ext cx="5416746"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cuarta simulación se utilizó nuevamente el método de la transformada inversa, trabajando con 300 vehículos. Se obtuvo un tiempo promedio de espera de 97.52 segundos y un tiempo total de 1998.67 segundos. Los resultados muestran cómo se generan diferentes tiempos de llegada y espera de los vehículos, considerando la configuración del semáforo.</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2499946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n-US" b="1" dirty="0" err="1"/>
              <a:t>Método</a:t>
            </a:r>
            <a:r>
              <a:rPr lang="en-US" b="1" dirty="0"/>
              <a:t> de </a:t>
            </a:r>
            <a:r>
              <a:rPr lang="en-US" b="1" dirty="0" err="1"/>
              <a:t>convolución</a:t>
            </a:r>
            <a:endParaRPr lang="es-MX" b="1" dirty="0"/>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90" y="2321869"/>
            <a:ext cx="5428712"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139321"/>
          </a:xfrm>
          <a:prstGeom prst="rect">
            <a:avLst/>
          </a:prstGeom>
          <a:noFill/>
        </p:spPr>
        <p:txBody>
          <a:bodyPr wrap="square" rtlCol="0">
            <a:spAutoFit/>
          </a:bodyPr>
          <a:lstStyle/>
          <a:p>
            <a:pPr algn="just"/>
            <a:r>
              <a:rPr lang="es-MX" dirty="0"/>
              <a:t>En esta quinta simulación se utilizó nuevamente el método de convolución, trabajando con 70 vehículos. Se obtuvo un tiempo promedio de espera de 3090 segundos y un tiempo total de 6840.65 segundos. Los resultados muestran tiempos de espera elevados, relacionados principalmente con la configuración del semáforo, que tenía 590 segundos en amarillo.</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1307122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29F10E2-BBF2-4D9F-95CD-E0747D094AEE}"/>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lstStyle/>
          <a:p>
            <a:pPr algn="ctr"/>
            <a:r>
              <a:rPr lang="es-MX" b="1" dirty="0"/>
              <a:t>Registro de las simulaciones en PostgreSQL</a:t>
            </a:r>
          </a:p>
        </p:txBody>
      </p:sp>
      <p:pic>
        <p:nvPicPr>
          <p:cNvPr id="3" name="Imagen 2">
            <a:extLst>
              <a:ext uri="{FF2B5EF4-FFF2-40B4-BE49-F238E27FC236}">
                <a16:creationId xmlns:a16="http://schemas.microsoft.com/office/drawing/2014/main" id="{986ACF22-5608-4C72-97B9-3ED692881B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4990" y="2321869"/>
            <a:ext cx="5428712" cy="3052766"/>
          </a:xfrm>
          <a:prstGeom prst="rect">
            <a:avLst/>
          </a:prstGeom>
        </p:spPr>
      </p:pic>
      <p:sp>
        <p:nvSpPr>
          <p:cNvPr id="13" name="CuadroTexto 12">
            <a:extLst>
              <a:ext uri="{FF2B5EF4-FFF2-40B4-BE49-F238E27FC236}">
                <a16:creationId xmlns:a16="http://schemas.microsoft.com/office/drawing/2014/main" id="{128F6430-1D41-4077-BE82-0370F9E32EDE}"/>
              </a:ext>
            </a:extLst>
          </p:cNvPr>
          <p:cNvSpPr txBox="1"/>
          <p:nvPr/>
        </p:nvSpPr>
        <p:spPr>
          <a:xfrm>
            <a:off x="6190617" y="2419991"/>
            <a:ext cx="5366028" cy="3416320"/>
          </a:xfrm>
          <a:prstGeom prst="rect">
            <a:avLst/>
          </a:prstGeom>
          <a:noFill/>
        </p:spPr>
        <p:txBody>
          <a:bodyPr wrap="square" rtlCol="0">
            <a:spAutoFit/>
          </a:bodyPr>
          <a:lstStyle/>
          <a:p>
            <a:pPr algn="just"/>
            <a:r>
              <a:rPr lang="es-MX" dirty="0"/>
              <a:t>En esta parte se muestra el historial de las cinco simulaciones realizadas en </a:t>
            </a:r>
            <a:r>
              <a:rPr lang="es-MX" dirty="0" err="1"/>
              <a:t>RStudio</a:t>
            </a:r>
            <a:r>
              <a:rPr lang="es-MX" dirty="0"/>
              <a:t>, almacenadas en PostgreSQL con los identificadores del 4 al 8. Se pueden observar los métodos utilizados, la cantidad de vehículos, los tiempos promedio de espera, los tiempos totales y las fechas de registro. Esto permite comprobar que los resultados de las simulaciones se guardaron correctamente en la base de datos.</a:t>
            </a:r>
          </a:p>
          <a:p>
            <a:pPr algn="just"/>
            <a:endParaRPr lang="en-US" dirty="0"/>
          </a:p>
          <a:p>
            <a:endParaRPr lang="es-MX" dirty="0"/>
          </a:p>
          <a:p>
            <a:endParaRPr lang="es-MX" dirty="0"/>
          </a:p>
          <a:p>
            <a:endParaRPr lang="en-US" dirty="0"/>
          </a:p>
        </p:txBody>
      </p:sp>
    </p:spTree>
    <p:extLst>
      <p:ext uri="{BB962C8B-B14F-4D97-AF65-F5344CB8AC3E}">
        <p14:creationId xmlns:p14="http://schemas.microsoft.com/office/powerpoint/2010/main" val="689506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17885CB-970F-4310-8744-8C1F4B4D676B}"/>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normAutofit/>
          </a:bodyPr>
          <a:lstStyle/>
          <a:p>
            <a:pPr algn="ctr"/>
            <a:r>
              <a:rPr lang="en-US" b="1" dirty="0"/>
              <a:t>CONCLUSIÓN</a:t>
            </a:r>
          </a:p>
        </p:txBody>
      </p:sp>
      <p:sp>
        <p:nvSpPr>
          <p:cNvPr id="9" name="Marcador de contenido 8">
            <a:extLst>
              <a:ext uri="{FF2B5EF4-FFF2-40B4-BE49-F238E27FC236}">
                <a16:creationId xmlns:a16="http://schemas.microsoft.com/office/drawing/2014/main" id="{01ED3E7C-7BBD-4824-A5E1-2F45160020E4}"/>
              </a:ext>
            </a:extLst>
          </p:cNvPr>
          <p:cNvSpPr>
            <a:spLocks noGrp="1"/>
          </p:cNvSpPr>
          <p:nvPr>
            <p:ph idx="1"/>
          </p:nvPr>
        </p:nvSpPr>
        <p:spPr/>
        <p:txBody>
          <a:bodyPr>
            <a:normAutofit lnSpcReduction="10000"/>
          </a:bodyPr>
          <a:lstStyle/>
          <a:p>
            <a:pPr marL="0" indent="0" algn="just">
              <a:buNone/>
            </a:pPr>
            <a:r>
              <a:rPr lang="es-MX" dirty="0"/>
              <a:t>Durante la realización de este banco de ejercicios pude comprender mejor el funcionamiento de los métodos de transformada inversa, convolución y composición, mediante las simulaciones realizadas en Java, Python y </a:t>
            </a:r>
            <a:r>
              <a:rPr lang="es-MX" dirty="0" err="1"/>
              <a:t>RStudio</a:t>
            </a:r>
            <a:r>
              <a:rPr lang="es-MX" dirty="0"/>
              <a:t>. Al ejecutar los programas varias veces, observé cómo los resultados pueden cambiar dependiendo del método utilizado y de los valores que se establezcan en cada simulación.</a:t>
            </a:r>
          </a:p>
          <a:p>
            <a:pPr marL="0" indent="0" algn="just">
              <a:buNone/>
            </a:pPr>
            <a:r>
              <a:rPr lang="es-MX" dirty="0"/>
              <a:t>También reforcé mis conocimientos sobre el uso de PostgreSQL, ya que pude comprobar cómo se almacenaban los resultados de cada ejercicio en las bases de datos. En conclusión, esta práctica me ayudó a relacionar la teoría con la programación y a entender mejor la importancia de las variables aleatorias para representar diferentes situaciones de la vida real.</a:t>
            </a:r>
          </a:p>
          <a:p>
            <a:pPr marL="0" indent="0" algn="just">
              <a:buNone/>
            </a:pPr>
            <a:endParaRPr lang="en-US" dirty="0"/>
          </a:p>
        </p:txBody>
      </p:sp>
    </p:spTree>
    <p:extLst>
      <p:ext uri="{BB962C8B-B14F-4D97-AF65-F5344CB8AC3E}">
        <p14:creationId xmlns:p14="http://schemas.microsoft.com/office/powerpoint/2010/main" val="3967399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17885CB-970F-4310-8744-8C1F4B4D676B}"/>
              </a:ext>
            </a:extLst>
          </p:cNvPr>
          <p:cNvPicPr>
            <a:picLocks noChangeAspect="1"/>
          </p:cNvPicPr>
          <p:nvPr/>
        </p:nvPicPr>
        <p:blipFill rotWithShape="1">
          <a:blip r:embed="rId2">
            <a:extLst>
              <a:ext uri="{28A0092B-C50C-407E-A947-70E740481C1C}">
                <a14:useLocalDpi xmlns:a14="http://schemas.microsoft.com/office/drawing/2010/main" val="0"/>
              </a:ext>
            </a:extLst>
          </a:blip>
          <a:srcRect b="15141"/>
          <a:stretch/>
        </p:blipFill>
        <p:spPr>
          <a:xfrm>
            <a:off x="0" y="0"/>
            <a:ext cx="12192000" cy="6858003"/>
          </a:xfrm>
          <a:prstGeom prst="rect">
            <a:avLst/>
          </a:prstGeom>
        </p:spPr>
      </p:pic>
      <p:sp>
        <p:nvSpPr>
          <p:cNvPr id="8" name="Título 7">
            <a:extLst>
              <a:ext uri="{FF2B5EF4-FFF2-40B4-BE49-F238E27FC236}">
                <a16:creationId xmlns:a16="http://schemas.microsoft.com/office/drawing/2014/main" id="{63E306A3-896F-4467-97B1-B4D1D5AE3F8C}"/>
              </a:ext>
            </a:extLst>
          </p:cNvPr>
          <p:cNvSpPr>
            <a:spLocks noGrp="1"/>
          </p:cNvSpPr>
          <p:nvPr>
            <p:ph type="title"/>
          </p:nvPr>
        </p:nvSpPr>
        <p:spPr/>
        <p:txBody>
          <a:bodyPr>
            <a:normAutofit/>
          </a:bodyPr>
          <a:lstStyle/>
          <a:p>
            <a:pPr algn="ctr"/>
            <a:r>
              <a:rPr lang="en-US" b="1" dirty="0"/>
              <a:t>FUENTES DE INFORMACIÓN</a:t>
            </a:r>
          </a:p>
        </p:txBody>
      </p:sp>
      <p:sp>
        <p:nvSpPr>
          <p:cNvPr id="9" name="Marcador de contenido 8">
            <a:extLst>
              <a:ext uri="{FF2B5EF4-FFF2-40B4-BE49-F238E27FC236}">
                <a16:creationId xmlns:a16="http://schemas.microsoft.com/office/drawing/2014/main" id="{01ED3E7C-7BBD-4824-A5E1-2F45160020E4}"/>
              </a:ext>
            </a:extLst>
          </p:cNvPr>
          <p:cNvSpPr>
            <a:spLocks noGrp="1"/>
          </p:cNvSpPr>
          <p:nvPr>
            <p:ph idx="1"/>
          </p:nvPr>
        </p:nvSpPr>
        <p:spPr/>
        <p:txBody>
          <a:bodyPr>
            <a:normAutofit fontScale="92500" lnSpcReduction="10000"/>
          </a:bodyPr>
          <a:lstStyle/>
          <a:p>
            <a:r>
              <a:rPr lang="en-US" dirty="0"/>
              <a:t>1. Ross, S. M. (2013). Simulation (5.ª </a:t>
            </a:r>
            <a:r>
              <a:rPr lang="en-US" dirty="0" err="1"/>
              <a:t>edición</a:t>
            </a:r>
            <a:r>
              <a:rPr lang="en-US" dirty="0"/>
              <a:t>). Academic Press.</a:t>
            </a:r>
          </a:p>
          <a:p>
            <a:r>
              <a:rPr lang="en-US" dirty="0"/>
              <a:t>2. </a:t>
            </a:r>
            <a:r>
              <a:rPr lang="en-US" dirty="0" err="1"/>
              <a:t>Devroye</a:t>
            </a:r>
            <a:r>
              <a:rPr lang="en-US" dirty="0"/>
              <a:t>, L. (1986). Non-Uniform Random Variate Generation. Springer-Verlag. </a:t>
            </a:r>
            <a:r>
              <a:rPr lang="en-US" dirty="0">
                <a:hlinkClick r:id="rId3"/>
              </a:rPr>
              <a:t>https://luc.devroye.org/books-luc.html</a:t>
            </a:r>
            <a:endParaRPr lang="en-US" dirty="0"/>
          </a:p>
          <a:p>
            <a:r>
              <a:rPr lang="en-US" dirty="0"/>
              <a:t>3. Oracle. (s. f.). Java Documentation. </a:t>
            </a:r>
            <a:r>
              <a:rPr lang="en-US" dirty="0">
                <a:hlinkClick r:id="rId4"/>
              </a:rPr>
              <a:t>https://docs.oracle.com/en/java/</a:t>
            </a:r>
            <a:endParaRPr lang="en-US" dirty="0"/>
          </a:p>
          <a:p>
            <a:r>
              <a:rPr lang="en-US" dirty="0"/>
              <a:t>4. Python Software Foundation. (s. f.). Python Documentation. </a:t>
            </a:r>
            <a:r>
              <a:rPr lang="en-US" dirty="0">
                <a:hlinkClick r:id="rId5"/>
              </a:rPr>
              <a:t>https://docs.python.org/3/</a:t>
            </a:r>
            <a:endParaRPr lang="en-US" dirty="0"/>
          </a:p>
          <a:p>
            <a:r>
              <a:rPr lang="en-US" dirty="0"/>
              <a:t>5. R Core Team. (s. f.). The R Project for Statistical Computing. </a:t>
            </a:r>
            <a:r>
              <a:rPr lang="en-US" dirty="0">
                <a:hlinkClick r:id="rId6"/>
              </a:rPr>
              <a:t>https://www.r-project.org/</a:t>
            </a:r>
            <a:endParaRPr lang="en-US" dirty="0"/>
          </a:p>
          <a:p>
            <a:r>
              <a:rPr lang="en-US" dirty="0"/>
              <a:t>6. Posit. (s. f.). Shiny for R. </a:t>
            </a:r>
            <a:r>
              <a:rPr lang="en-US" dirty="0">
                <a:hlinkClick r:id="rId7"/>
              </a:rPr>
              <a:t>https://shiny.posit.co/r/</a:t>
            </a:r>
            <a:endParaRPr lang="en-US" dirty="0"/>
          </a:p>
          <a:p>
            <a:r>
              <a:rPr lang="en-US" dirty="0"/>
              <a:t>7. PostgreSQL Global Development Group. (s. f.). PostgreSQL Documentation. </a:t>
            </a:r>
            <a:r>
              <a:rPr lang="en-US" dirty="0">
                <a:hlinkClick r:id="rId8"/>
              </a:rPr>
              <a:t>https://www.postgresql.org/docs/</a:t>
            </a:r>
            <a:endParaRPr lang="en-US" dirty="0"/>
          </a:p>
          <a:p>
            <a:pPr marL="0" indent="0" algn="just">
              <a:buNone/>
            </a:pPr>
            <a:endParaRPr lang="en-US" dirty="0"/>
          </a:p>
        </p:txBody>
      </p:sp>
    </p:spTree>
    <p:extLst>
      <p:ext uri="{BB962C8B-B14F-4D97-AF65-F5344CB8AC3E}">
        <p14:creationId xmlns:p14="http://schemas.microsoft.com/office/powerpoint/2010/main" val="273747302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1749</Words>
  <Application>Microsoft Office PowerPoint</Application>
  <PresentationFormat>Panorámica</PresentationFormat>
  <Paragraphs>107</Paragraphs>
  <Slides>26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Calibri</vt:lpstr>
      <vt:lpstr>Calibri Light</vt:lpstr>
      <vt:lpstr>Tema de Office</vt:lpstr>
      <vt:lpstr>Presentación de PowerPoint</vt:lpstr>
      <vt:lpstr>INTRODUCCIÓN</vt:lpstr>
      <vt:lpstr>JUSTIFICACIÓN</vt:lpstr>
      <vt:lpstr>Implementación del método de la transformada inversa usando Java</vt:lpstr>
      <vt:lpstr>Método de la transformada inversa</vt:lpstr>
      <vt:lpstr>Método de convolución</vt:lpstr>
      <vt:lpstr>Método de composición</vt:lpstr>
      <vt:lpstr>Método de la transformada inversa</vt:lpstr>
      <vt:lpstr>Método de convolución</vt:lpstr>
      <vt:lpstr>Registro de las simulaciones en PostgreSQL</vt:lpstr>
      <vt:lpstr>Ejercicios del simulador de entregas en Python</vt:lpstr>
      <vt:lpstr>Método de la transformada inversa</vt:lpstr>
      <vt:lpstr>Método de convolución</vt:lpstr>
      <vt:lpstr>Método de composición</vt:lpstr>
      <vt:lpstr>Método de la transformada inversa</vt:lpstr>
      <vt:lpstr>Método de convolución</vt:lpstr>
      <vt:lpstr>Registro de las simulaciones en PostgreSQL</vt:lpstr>
      <vt:lpstr>Ejercicios del simulador de tráfico vehicular en RStudio</vt:lpstr>
      <vt:lpstr>Método de la transformada inversa</vt:lpstr>
      <vt:lpstr>Método de convolución</vt:lpstr>
      <vt:lpstr>Método de composición</vt:lpstr>
      <vt:lpstr>Método de la transformada inversa</vt:lpstr>
      <vt:lpstr>Método de convolución</vt:lpstr>
      <vt:lpstr>Registro de las simulaciones en PostgreSQL</vt:lpstr>
      <vt:lpstr>CONCLUSIÓN</vt:lpstr>
      <vt:lpstr>FUENTES DE INFORMACIÓN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Amilcar Corona</dc:creator>
  <cp:lastModifiedBy>Amilcar Corona</cp:lastModifiedBy>
  <cp:revision>5</cp:revision>
  <dcterms:created xsi:type="dcterms:W3CDTF">2026-10-25T04:35:22Z</dcterms:created>
  <dcterms:modified xsi:type="dcterms:W3CDTF">2026-10-25T05:18:34Z</dcterms:modified>
</cp:coreProperties>
</file>